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95cee90-fa0e-f324-cc85-85d83fe5bea9}">
          <p14:sldIdLst>
            <p14:sldId id="256"/>
            <p14:sldId id="257"/>
            <p14:sldId id="258"/>
          </p14:sldIdLst>
        </p14:section>
        <p14:section name="Background and design" id="{f338e8cf-b7c1-9d1a-0bda-09fbc16359d5}">
          <p14:sldIdLst>
            <p14:sldId id="259"/>
            <p14:sldId id="260"/>
            <p14:sldId id="261"/>
            <p14:sldId id="262"/>
          </p14:sldIdLst>
        </p14:section>
        <p14:section name="Evaluation" id="{691a8b02-e7a3-cdc0-5bbd-e8585f405b4f}">
          <p14:sldIdLst>
            <p14:sldId id="263"/>
            <p14:sldId id="264"/>
            <p14:sldId id="265"/>
            <p14:sldId id="266"/>
            <p14:sldId id="267"/>
          </p14:sldIdLst>
        </p14:section>
        <p14:section name="Wrap-up" id="{5a65bd86-972b-9978-a700-aeec28ba9ba7}">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Mean JCT (s) vs offered load ρ · mixed workload · mean of 10 seeds</a:t>
            </a:r>
          </a:p>
        </c:rich>
      </c:tx>
      <c:layout/>
      <c:overlay val="0"/>
    </c:title>
    <c:autoTitleDeleted val="0"/>
    <c:plotArea>
      <c:layout/>
      <c:lineChart>
        <c:varyColors val="0"/>
        <c:ser>
          <c:idx val="0"/>
          <c:order val="0"/>
          <c:tx>
            <c:strRef>
              <c:f>Sheet1!$B$1</c:f>
              <c:strCache>
                <c:ptCount val="1"/>
                <c:pt idx="0">
                  <c:v>FCFS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Sheet1!$A$2:$A$7</c:f>
              <c:multiLvlStrCache>
                <c:ptCount val="6"/>
                <c:lvl>
                  <c:pt idx="0">
                    <c:v>0.5</c:v>
                  </c:pt>
                  <c:pt idx="1">
                    <c:v>0.6</c:v>
                  </c:pt>
                  <c:pt idx="2">
                    <c:v>0.7</c:v>
                  </c:pt>
                  <c:pt idx="3">
                    <c:v>0.8</c:v>
                  </c:pt>
                  <c:pt idx="4">
                    <c:v>0.9</c:v>
                  </c:pt>
                  <c:pt idx="5">
                    <c:v>0.95</c:v>
                  </c:pt>
                </c:lvl>
              </c:multiLvlStrCache>
            </c:multiLvlStrRef>
          </c:cat>
          <c:val>
            <c:numRef>
              <c:f>Sheet1!$B$2:$B$7</c:f>
              <c:numCache>
                <c:formatCode>General</c:formatCode>
                <c:ptCount val="6"/>
                <c:pt idx="0">
                  <c:v>17.4</c:v>
                </c:pt>
                <c:pt idx="1">
                  <c:v>22.5</c:v>
                </c:pt>
                <c:pt idx="2">
                  <c:v>30.5</c:v>
                </c:pt>
                <c:pt idx="3">
                  <c:v>46.8</c:v>
                </c:pt>
                <c:pt idx="4">
                  <c:v>92.4</c:v>
                </c:pt>
                <c:pt idx="5">
                  <c:v>160.4</c:v>
                </c:pt>
              </c:numCache>
            </c:numRef>
          </c:val>
          <c:smooth val="0"/>
        </c:ser>
        <c:ser>
          <c:idx val="1"/>
          <c:order val="1"/>
          <c:tx>
            <c:strRef>
              <c:f>Sheet1!$C$1</c:f>
              <c:strCache>
                <c:ptCount val="1"/>
                <c:pt idx="0">
                  <c:v>SJF-heuristic</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Sheet1!$A$2:$A$7</c:f>
              <c:multiLvlStrCache>
                <c:ptCount val="6"/>
                <c:lvl>
                  <c:pt idx="0">
                    <c:v>0.5</c:v>
                  </c:pt>
                  <c:pt idx="1">
                    <c:v>0.6</c:v>
                  </c:pt>
                  <c:pt idx="2">
                    <c:v>0.7</c:v>
                  </c:pt>
                  <c:pt idx="3">
                    <c:v>0.8</c:v>
                  </c:pt>
                  <c:pt idx="4">
                    <c:v>0.9</c:v>
                  </c:pt>
                  <c:pt idx="5">
                    <c:v>0.95</c:v>
                  </c:pt>
                </c:lvl>
              </c:multiLvlStrCache>
            </c:multiLvlStrRef>
          </c:cat>
          <c:val>
            <c:numRef>
              <c:f>Sheet1!$C$2:$C$7</c:f>
              <c:numCache>
                <c:formatCode>General</c:formatCode>
                <c:ptCount val="6"/>
                <c:pt idx="0">
                  <c:v>14.3</c:v>
                </c:pt>
                <c:pt idx="1">
                  <c:v>16.8</c:v>
                </c:pt>
                <c:pt idx="2">
                  <c:v>20.3</c:v>
                </c:pt>
                <c:pt idx="3">
                  <c:v>25.9</c:v>
                </c:pt>
                <c:pt idx="4">
                  <c:v>38.8</c:v>
                </c:pt>
                <c:pt idx="5">
                  <c:v>55.8</c:v>
                </c:pt>
              </c:numCache>
            </c:numRef>
          </c:val>
          <c:smooth val="0"/>
        </c:ser>
        <c:ser>
          <c:idx val="2"/>
          <c:order val="2"/>
          <c:tx>
            <c:strRef>
              <c:f>Sheet1!$D$1</c:f>
              <c:strCache>
                <c:ptCount val="1"/>
                <c:pt idx="0">
                  <c:v>SJF-oracle (reference)</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Sheet1!$A$2:$A$7</c:f>
              <c:multiLvlStrCache>
                <c:ptCount val="6"/>
                <c:lvl>
                  <c:pt idx="0">
                    <c:v>0.5</c:v>
                  </c:pt>
                  <c:pt idx="1">
                    <c:v>0.6</c:v>
                  </c:pt>
                  <c:pt idx="2">
                    <c:v>0.7</c:v>
                  </c:pt>
                  <c:pt idx="3">
                    <c:v>0.8</c:v>
                  </c:pt>
                  <c:pt idx="4">
                    <c:v>0.9</c:v>
                  </c:pt>
                  <c:pt idx="5">
                    <c:v>0.95</c:v>
                  </c:pt>
                </c:lvl>
              </c:multiLvlStrCache>
            </c:multiLvlStrRef>
          </c:cat>
          <c:val>
            <c:numRef>
              <c:f>Sheet1!$D$2:$D$7</c:f>
              <c:numCache>
                <c:formatCode>General</c:formatCode>
                <c:ptCount val="6"/>
                <c:pt idx="0">
                  <c:v>13.9</c:v>
                </c:pt>
                <c:pt idx="1">
                  <c:v>16</c:v>
                </c:pt>
                <c:pt idx="2">
                  <c:v>18.8</c:v>
                </c:pt>
                <c:pt idx="3">
                  <c:v>23</c:v>
                </c:pt>
                <c:pt idx="4">
                  <c:v>31.3</c:v>
                </c:pt>
                <c:pt idx="5">
                  <c:v>40.5</c:v>
                </c:pt>
              </c:numCache>
            </c:numRef>
          </c:val>
          <c:smooth val="0"/>
        </c:ser>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470"/>
                    </a:solidFill>
                    <a:latin typeface="+mn-lt"/>
                  </a:defRPr>
                </a:pPr>
                <a:r>
                  <a:rPr sz="1200" b="0" i="0" u="none" strike="noStrike">
                    <a:solidFill>
                      <a:srgbClr val="5B6470"/>
                    </a:solidFill>
                    <a:latin typeface="+mn-lt"/>
                  </a:rPr>
                  <a:t>offered load ρ</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3E6EA"/>
              </a:solidFill>
              <a:prstDash val="solid"/>
              <a:round/>
            </a:ln>
          </c:spPr>
        </c:majorGridlines>
        <c:title>
          <c:tx>
            <c:rich>
              <a:bodyPr/>
              <a:lstStyle/>
              <a:p>
                <a:pPr>
                  <a:defRPr sz="1200" b="0" i="0" u="none" strike="noStrike">
                    <a:solidFill>
                      <a:srgbClr val="5B6470"/>
                    </a:solidFill>
                    <a:latin typeface="+mn-lt"/>
                  </a:defRPr>
                </a:pPr>
                <a:r>
                  <a:rPr sz="1200" b="0" i="0" u="none" strike="noStrike">
                    <a:solidFill>
                      <a:srgbClr val="5B6470"/>
                    </a:solidFill>
                    <a:latin typeface="+mn-lt"/>
                  </a:rPr>
                  <a:t>mean JCT (s)</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Mean-JCT improvement vs FCFS by predictor (rank corr.) · load 0.8</a:t>
            </a:r>
          </a:p>
        </c:rich>
      </c:tx>
      <c:layout/>
      <c:overlay val="0"/>
    </c:title>
    <c:autoTitleDeleted val="0"/>
    <c:plotArea>
      <c:layout/>
      <c:barChart>
        <c:barDir val="bar"/>
        <c:grouping val="clustered"/>
        <c:varyColors val="0"/>
        <c:ser>
          <c:idx val="0"/>
          <c:order val="0"/>
          <c:tx>
            <c:strRef>
              <c:f>Sheet1!$B$1</c:f>
              <c:strCache>
                <c:ptCount val="1"/>
                <c:pt idx="0">
                  <c:v>mean-JCT improvement vs FCFS (%)</c:v>
                </c:pt>
              </c:strCache>
            </c:strRef>
          </c:tx>
          <c:spPr>
            <a:solidFill>
              <a:srgbClr val="1BAF7A"/>
            </a:solidFill>
            <a:effectLst/>
          </c:spPr>
          <c:invertIfNegative val="0"/>
          <c:dLbls>
            <c:numFmt formatCode="0.0&quot;%&quot;"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dPt>
            <c:idx val="0"/>
            <c:invertIfNegative val="0"/>
            <c:bubble3D val="0"/>
            <c:spPr>
              <a:solidFill>
                <a:srgbClr val="1BAF7A"/>
              </a:solidFill>
              <a:effectLst/>
            </c:spPr>
          </c:dPt>
          <c:dPt>
            <c:idx val="1"/>
            <c:invertIfNegative val="0"/>
            <c:bubble3D val="0"/>
            <c:spPr>
              <a:solidFill>
                <a:srgbClr val="1BAF7A"/>
              </a:solidFill>
              <a:effectLst/>
            </c:spPr>
          </c:dPt>
          <c:dPt>
            <c:idx val="2"/>
            <c:invertIfNegative val="0"/>
            <c:bubble3D val="0"/>
            <c:spPr>
              <a:solidFill>
                <a:srgbClr val="EB6834"/>
              </a:solidFill>
              <a:effectLst/>
            </c:spPr>
          </c:dPt>
          <c:dPt>
            <c:idx val="3"/>
            <c:invertIfNegative val="0"/>
            <c:bubble3D val="0"/>
            <c:spPr>
              <a:solidFill>
                <a:srgbClr val="1BAF7A"/>
              </a:solidFill>
              <a:effectLst/>
            </c:spPr>
          </c:dPt>
          <c:dPt>
            <c:idx val="4"/>
            <c:invertIfNegative val="0"/>
            <c:bubble3D val="0"/>
            <c:spPr>
              <a:solidFill>
                <a:srgbClr val="1BAF7A"/>
              </a:solidFill>
              <a:effectLst/>
            </c:spPr>
          </c:dPt>
          <c:dPt>
            <c:idx val="5"/>
            <c:invertIfNegative val="0"/>
            <c:bubble3D val="0"/>
            <c:spPr>
              <a:solidFill>
                <a:srgbClr val="1BAF7A"/>
              </a:solidFill>
              <a:effectLst/>
            </c:spPr>
          </c:dPt>
          <c:dPt>
            <c:idx val="6"/>
            <c:invertIfNegative val="0"/>
            <c:bubble3D val="0"/>
            <c:spPr>
              <a:solidFill>
                <a:srgbClr val="8A93A0"/>
              </a:solidFill>
              <a:effectLst/>
            </c:spPr>
          </c:dPt>
          <c:dPt>
            <c:idx val="7"/>
            <c:invertIfNegative val="0"/>
            <c:bubble3D val="0"/>
            <c:spPr>
              <a:solidFill>
                <a:srgbClr val="8A93A0"/>
              </a:solidFill>
              <a:effectLst/>
            </c:spPr>
          </c:dPt>
          <c:dPt>
            <c:idx val="8"/>
            <c:invertIfNegative val="0"/>
            <c:bubble3D val="0"/>
            <c:spPr>
              <a:solidFill>
                <a:srgbClr val="8A93A0"/>
              </a:solidFill>
              <a:effectLst/>
            </c:spPr>
          </c:dPt>
          <c:cat>
            <c:multiLvlStrRef>
              <c:f>Sheet1!$A$2:$A$10</c:f>
              <c:multiLvlStrCache>
                <c:ptCount val="9"/>
                <c:lvl>
                  <c:pt idx="0">
                    <c:v>oracle* (1.00)</c:v>
                  </c:pt>
                  <c:pt idx="1">
                    <c:v>noise σ=0.5* (0.94)</c:v>
                  </c:pt>
                  <c:pt idx="2">
                    <c:v>heuristic (0.88)</c:v>
                  </c:pt>
                  <c:pt idx="3">
                    <c:v>noise σ=1* (0.80)</c:v>
                  </c:pt>
                  <c:pt idx="4">
                    <c:v>noise σ=2* (0.55)</c:v>
                  </c:pt>
                  <c:pt idx="5">
                    <c:v>noise σ=3* (0.39)</c:v>
                  </c:pt>
                  <c:pt idx="6">
                    <c:v>max_tokens (0.03)</c:v>
                  </c:pt>
                  <c:pt idx="7">
                    <c:v>random (0.00)</c:v>
                  </c:pt>
                  <c:pt idx="8">
                    <c:v>prompt length (0.36)</c:v>
                  </c:pt>
                </c:lvl>
              </c:multiLvlStrCache>
            </c:multiLvlStrRef>
          </c:cat>
          <c:val>
            <c:numRef>
              <c:f>Sheet1!$B$2:$B$10</c:f>
              <c:numCache>
                <c:formatCode>General</c:formatCode>
                <c:ptCount val="9"/>
                <c:pt idx="0">
                  <c:v>50.6</c:v>
                </c:pt>
                <c:pt idx="1">
                  <c:v>48.2</c:v>
                </c:pt>
                <c:pt idx="2">
                  <c:v>44.6</c:v>
                </c:pt>
                <c:pt idx="3">
                  <c:v>43.2</c:v>
                </c:pt>
                <c:pt idx="4">
                  <c:v>34.3</c:v>
                </c:pt>
                <c:pt idx="5">
                  <c:v>27.7</c:v>
                </c:pt>
                <c:pt idx="6">
                  <c:v>8.6</c:v>
                </c:pt>
                <c:pt idx="7">
                  <c:v>0.8</c:v>
                </c:pt>
                <c:pt idx="8">
                  <c:v>-9.5</c:v>
                </c:pt>
              </c:numCache>
            </c:numRef>
          </c:val>
        </c:ser>
        <c:dLbls>
          <c:numFmt formatCode="0.0&quot;%&quot;"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ax val="60"/>
          <c:min val="-20"/>
        </c:scaling>
        <c:delete val="0"/>
        <c:axPos val="b"/>
        <c:majorGridlines>
          <c:spPr>
            <a:ln w="12700" cap="flat">
              <a:solidFill>
                <a:srgbClr val="E3E6EA"/>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Improvement by workload mix · load 0.8</a:t>
            </a:r>
          </a:p>
        </c:rich>
      </c:tx>
      <c:layout/>
      <c:overlay val="0"/>
    </c:title>
    <c:autoTitleDeleted val="0"/>
    <c:plotArea>
      <c:layout/>
      <c:barChart>
        <c:barDir val="col"/>
        <c:grouping val="clustered"/>
        <c:varyColors val="0"/>
        <c:ser>
          <c:idx val="0"/>
          <c:order val="0"/>
          <c:tx>
            <c:strRef>
              <c:f>Sheet1!$B$1</c:f>
              <c:strCache>
                <c:ptCount val="1"/>
                <c:pt idx="0">
                  <c:v>SJF-heuristic</c:v>
                </c:pt>
              </c:strCache>
            </c:strRef>
          </c:tx>
          <c:spPr>
            <a:solidFill>
              <a:srgbClr val="EB6834"/>
            </a:solidFill>
            <a:effectLst/>
          </c:spPr>
          <c:invertIfNegative val="0"/>
          <c:dLbls>
            <c:numFmt formatCode="0&quot;%&quot;"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cat>
            <c:multiLvlStrRef>
              <c:f>Sheet1!$A$2:$A$4</c:f>
              <c:multiLvlStrCache>
                <c:ptCount val="3"/>
                <c:lvl>
                  <c:pt idx="0">
                    <c:v>short-heavy (CV 1.69)</c:v>
                  </c:pt>
                  <c:pt idx="1">
                    <c:v>mixed (CV 1.39)</c:v>
                  </c:pt>
                  <c:pt idx="2">
                    <c:v>long-heavy (CV 1.03)</c:v>
                  </c:pt>
                </c:lvl>
              </c:multiLvlStrCache>
            </c:multiLvlStrRef>
          </c:cat>
          <c:val>
            <c:numRef>
              <c:f>Sheet1!$B$2:$B$4</c:f>
              <c:numCache>
                <c:formatCode>General</c:formatCode>
                <c:ptCount val="3"/>
                <c:pt idx="0">
                  <c:v>48.7</c:v>
                </c:pt>
                <c:pt idx="1">
                  <c:v>44.6</c:v>
                </c:pt>
                <c:pt idx="2">
                  <c:v>32.2</c:v>
                </c:pt>
              </c:numCache>
            </c:numRef>
          </c:val>
        </c:ser>
        <c:ser>
          <c:idx val="1"/>
          <c:order val="1"/>
          <c:tx>
            <c:strRef>
              <c:f>Sheet1!$C$1</c:f>
              <c:strCache>
                <c:ptCount val="1"/>
                <c:pt idx="0">
                  <c:v>SJF-oracle (reference)</c:v>
                </c:pt>
              </c:strCache>
            </c:strRef>
          </c:tx>
          <c:spPr>
            <a:solidFill>
              <a:srgbClr val="1BAF7A"/>
            </a:solidFill>
            <a:effectLst/>
          </c:spPr>
          <c:invertIfNegative val="0"/>
          <c:dLbls>
            <c:numFmt formatCode="0&quot;%&quot;"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cat>
            <c:multiLvlStrRef>
              <c:f>Sheet1!$A$2:$A$4</c:f>
              <c:multiLvlStrCache>
                <c:ptCount val="3"/>
                <c:lvl>
                  <c:pt idx="0">
                    <c:v>short-heavy (CV 1.69)</c:v>
                  </c:pt>
                  <c:pt idx="1">
                    <c:v>mixed (CV 1.39)</c:v>
                  </c:pt>
                  <c:pt idx="2">
                    <c:v>long-heavy (CV 1.03)</c:v>
                  </c:pt>
                </c:lvl>
              </c:multiLvlStrCache>
            </c:multiLvlStrRef>
          </c:cat>
          <c:val>
            <c:numRef>
              <c:f>Sheet1!$C$2:$C$4</c:f>
              <c:numCache>
                <c:formatCode>General</c:formatCode>
                <c:ptCount val="3"/>
                <c:pt idx="0">
                  <c:v>54.3</c:v>
                </c:pt>
                <c:pt idx="1">
                  <c:v>50.6</c:v>
                </c:pt>
                <c:pt idx="2">
                  <c:v>42.2</c:v>
                </c:pt>
              </c:numCache>
            </c:numRef>
          </c:val>
        </c:ser>
        <c:dLbls>
          <c:numFmt formatCode="0&quot;%&quot;"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12700" cap="flat">
              <a:solidFill>
                <a:srgbClr val="E3E6E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Mean waiting time (s) by true length · mixed, ρ = 0.9</a:t>
            </a:r>
          </a:p>
        </c:rich>
      </c:tx>
      <c:layout/>
      <c:overlay val="0"/>
    </c:title>
    <c:autoTitleDeleted val="0"/>
    <c:plotArea>
      <c:layout/>
      <c:barChart>
        <c:barDir val="col"/>
        <c:grouping val="clustered"/>
        <c:varyColors val="0"/>
        <c:ser>
          <c:idx val="0"/>
          <c:order val="0"/>
          <c:tx>
            <c:strRef>
              <c:f>Sheet1!$B$1</c:f>
              <c:strCache>
                <c:ptCount val="1"/>
                <c:pt idx="0">
                  <c:v>FCFS</c:v>
                </c:pt>
              </c:strCache>
            </c:strRef>
          </c:tx>
          <c:spPr>
            <a:solidFill>
              <a:srgbClr val="2A78D6"/>
            </a:solidFill>
            <a:effectLst/>
          </c:spPr>
          <c:invertIfNegative val="0"/>
          <c:dLbls>
            <c:numFmt formatCode="0"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cat>
            <c:multiLvlStrRef>
              <c:f>Sheet1!$A$2:$A$4</c:f>
              <c:multiLvlStrCache>
                <c:ptCount val="3"/>
                <c:lvl>
                  <c:pt idx="0">
                    <c:v>short</c:v>
                  </c:pt>
                  <c:pt idx="1">
                    <c:v>medium</c:v>
                  </c:pt>
                  <c:pt idx="2">
                    <c:v>long</c:v>
                  </c:pt>
                </c:lvl>
              </c:multiLvlStrCache>
            </c:multiLvlStrRef>
          </c:cat>
          <c:val>
            <c:numRef>
              <c:f>Sheet1!$B$2:$B$4</c:f>
              <c:numCache>
                <c:formatCode>General</c:formatCode>
                <c:ptCount val="3"/>
                <c:pt idx="0">
                  <c:v>85</c:v>
                </c:pt>
                <c:pt idx="1">
                  <c:v>85.2</c:v>
                </c:pt>
                <c:pt idx="2">
                  <c:v>86.3</c:v>
                </c:pt>
              </c:numCache>
            </c:numRef>
          </c:val>
        </c:ser>
        <c:ser>
          <c:idx val="1"/>
          <c:order val="1"/>
          <c:tx>
            <c:strRef>
              <c:f>Sheet1!$C$1</c:f>
              <c:strCache>
                <c:ptCount val="1"/>
                <c:pt idx="0">
                  <c:v>SJF-heuristic</c:v>
                </c:pt>
              </c:strCache>
            </c:strRef>
          </c:tx>
          <c:spPr>
            <a:solidFill>
              <a:srgbClr val="EB6834"/>
            </a:solidFill>
            <a:effectLst/>
          </c:spPr>
          <c:invertIfNegative val="0"/>
          <c:dLbls>
            <c:numFmt formatCode="0"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cat>
            <c:multiLvlStrRef>
              <c:f>Sheet1!$A$2:$A$4</c:f>
              <c:multiLvlStrCache>
                <c:ptCount val="3"/>
                <c:lvl>
                  <c:pt idx="0">
                    <c:v>short</c:v>
                  </c:pt>
                  <c:pt idx="1">
                    <c:v>medium</c:v>
                  </c:pt>
                  <c:pt idx="2">
                    <c:v>long</c:v>
                  </c:pt>
                </c:lvl>
              </c:multiLvlStrCache>
            </c:multiLvlStrRef>
          </c:cat>
          <c:val>
            <c:numRef>
              <c:f>Sheet1!$C$2:$C$4</c:f>
              <c:numCache>
                <c:formatCode>General</c:formatCode>
                <c:ptCount val="3"/>
                <c:pt idx="0">
                  <c:v>11</c:v>
                </c:pt>
                <c:pt idx="1">
                  <c:v>25.6</c:v>
                </c:pt>
                <c:pt idx="2">
                  <c:v>118.4</c:v>
                </c:pt>
              </c:numCache>
            </c:numRef>
          </c:val>
        </c:ser>
        <c:ser>
          <c:idx val="2"/>
          <c:order val="2"/>
          <c:tx>
            <c:strRef>
              <c:f>Sheet1!$D$1</c:f>
              <c:strCache>
                <c:ptCount val="1"/>
                <c:pt idx="0">
                  <c:v>SJF-oracle (ref.)</c:v>
                </c:pt>
              </c:strCache>
            </c:strRef>
          </c:tx>
          <c:spPr>
            <a:solidFill>
              <a:srgbClr val="1BAF7A"/>
            </a:solidFill>
            <a:effectLst/>
          </c:spPr>
          <c:invertIfNegative val="0"/>
          <c:dLbls>
            <c:numFmt formatCode="0"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cat>
            <c:multiLvlStrRef>
              <c:f>Sheet1!$A$2:$A$4</c:f>
              <c:multiLvlStrCache>
                <c:ptCount val="3"/>
                <c:lvl>
                  <c:pt idx="0">
                    <c:v>short</c:v>
                  </c:pt>
                  <c:pt idx="1">
                    <c:v>medium</c:v>
                  </c:pt>
                  <c:pt idx="2">
                    <c:v>long</c:v>
                  </c:pt>
                </c:lvl>
              </c:multiLvlStrCache>
            </c:multiLvlStrRef>
          </c:cat>
          <c:val>
            <c:numRef>
              <c:f>Sheet1!$D$2:$D$4</c:f>
              <c:numCache>
                <c:formatCode>General</c:formatCode>
                <c:ptCount val="3"/>
                <c:pt idx="0">
                  <c:v>9.7</c:v>
                </c:pt>
                <c:pt idx="1">
                  <c:v>15.5</c:v>
                </c:pt>
                <c:pt idx="2">
                  <c:v>95.9</c:v>
                </c:pt>
              </c:numCache>
            </c:numRef>
          </c:val>
        </c:ser>
        <c:dLbls>
          <c:numFmt formatCode="0"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Per-seed max wait of long requests (s)</a:t>
            </a:r>
          </a:p>
        </c:rich>
      </c:tx>
      <c:layout/>
      <c:overlay val="0"/>
    </c:title>
    <c:autoTitleDeleted val="0"/>
    <c:plotArea>
      <c:layout/>
      <c:barChart>
        <c:barDir val="col"/>
        <c:grouping val="clustered"/>
        <c:varyColors val="0"/>
        <c:ser>
          <c:idx val="0"/>
          <c:order val="0"/>
          <c:tx>
            <c:strRef>
              <c:f>Sheet1!$B$1</c:f>
              <c:strCache>
                <c:ptCount val="1"/>
                <c:pt idx="0">
                  <c:v>max wait of long requests (s)</c:v>
                </c:pt>
              </c:strCache>
            </c:strRef>
          </c:tx>
          <c:spPr>
            <a:solidFill>
              <a:srgbClr val="2A78D6"/>
            </a:solidFill>
            <a:effectLst/>
          </c:spPr>
          <c:invertIfNegative val="0"/>
          <c:dLbls>
            <c:numFmt formatCode="#,##0"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1BAF7A"/>
              </a:solidFill>
              <a:effectLst/>
            </c:spPr>
          </c:dPt>
          <c:cat>
            <c:multiLvlStrRef>
              <c:f>Sheet1!$A$2:$A$4</c:f>
              <c:multiLvlStrCache>
                <c:ptCount val="3"/>
                <c:lvl>
                  <c:pt idx="0">
                    <c:v>FCFS</c:v>
                  </c:pt>
                  <c:pt idx="1">
                    <c:v>SJF-heuristic</c:v>
                  </c:pt>
                  <c:pt idx="2">
                    <c:v>SJF-oracle (ref.)</c:v>
                  </c:pt>
                </c:lvl>
              </c:multiLvlStrCache>
            </c:multiLvlStrRef>
          </c:cat>
          <c:val>
            <c:numRef>
              <c:f>Sheet1!$B$2:$B$4</c:f>
              <c:numCache>
                <c:formatCode>General</c:formatCode>
                <c:ptCount val="3"/>
                <c:pt idx="0">
                  <c:v>413</c:v>
                </c:pt>
                <c:pt idx="1">
                  <c:v>1427</c:v>
                </c:pt>
                <c:pt idx="2">
                  <c:v>2710</c:v>
                </c:pt>
              </c:numCache>
            </c:numRef>
          </c:val>
        </c:ser>
        <c:dLbls>
          <c:numFmt formatCode="#,##0" sourceLinked="0"/>
          <c:txPr>
            <a:bodyPr/>
            <a:lstStyle/>
            <a:p>
              <a:pPr>
                <a:defRPr b="0" i="0" strike="noStrike" sz="1100" u="none">
                  <a:solidFill>
                    <a:srgbClr val="3A4654"/>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Mean-JCT gain vs FCFS (%) by aging rate a</a:t>
            </a:r>
          </a:p>
        </c:rich>
      </c:tx>
      <c:layout/>
      <c:overlay val="0"/>
    </c:title>
    <c:autoTitleDeleted val="0"/>
    <c:plotArea>
      <c:layout/>
      <c:lineChart>
        <c:varyColors val="0"/>
        <c:ser>
          <c:idx val="0"/>
          <c:order val="0"/>
          <c:tx>
            <c:strRef>
              <c:f>Sheet1!$B$1</c:f>
              <c:strCache>
                <c:ptCount val="1"/>
                <c:pt idx="0">
                  <c:v>mean-JCT gain vs FCFS (%)</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Sheet1!$A$2:$A$11</c:f>
              <c:multiLvlStrCache>
                <c:ptCount val="10"/>
                <c:lvl>
                  <c:pt idx="0">
                    <c:v>SJF</c:v>
                  </c:pt>
                  <c:pt idx="1">
                    <c:v>0.5</c:v>
                  </c:pt>
                  <c:pt idx="2">
                    <c:v>1</c:v>
                  </c:pt>
                  <c:pt idx="3">
                    <c:v>2</c:v>
                  </c:pt>
                  <c:pt idx="4">
                    <c:v>3</c:v>
                  </c:pt>
                  <c:pt idx="5">
                    <c:v>5</c:v>
                  </c:pt>
                  <c:pt idx="6">
                    <c:v>10</c:v>
                  </c:pt>
                  <c:pt idx="7">
                    <c:v>30</c:v>
                  </c:pt>
                  <c:pt idx="8">
                    <c:v>100</c:v>
                  </c:pt>
                  <c:pt idx="9">
                    <c:v>FCFS</c:v>
                  </c:pt>
                </c:lvl>
              </c:multiLvlStrCache>
            </c:multiLvlStrRef>
          </c:cat>
          <c:val>
            <c:numRef>
              <c:f>Sheet1!$B$2:$B$11</c:f>
              <c:numCache>
                <c:formatCode>General</c:formatCode>
                <c:ptCount val="10"/>
                <c:pt idx="0">
                  <c:v>57.7</c:v>
                </c:pt>
                <c:pt idx="1">
                  <c:v>57.4</c:v>
                </c:pt>
                <c:pt idx="2">
                  <c:v>55.5</c:v>
                </c:pt>
                <c:pt idx="3">
                  <c:v>48.5</c:v>
                </c:pt>
                <c:pt idx="4">
                  <c:v>41.2</c:v>
                </c:pt>
                <c:pt idx="5">
                  <c:v>30.7</c:v>
                </c:pt>
                <c:pt idx="6">
                  <c:v>18.3</c:v>
                </c:pt>
                <c:pt idx="7">
                  <c:v>7</c:v>
                </c:pt>
                <c:pt idx="8">
                  <c:v>2.3</c:v>
                </c:pt>
                <c:pt idx="9">
                  <c:v>0</c:v>
                </c:pt>
              </c:numCache>
            </c:numRef>
          </c:val>
          <c:smooth val="0"/>
        </c:ser>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470"/>
                    </a:solidFill>
                    <a:latin typeface="+mn-lt"/>
                  </a:defRPr>
                </a:pPr>
                <a:r>
                  <a:rPr sz="1200" b="0" i="0" u="none" strike="noStrike">
                    <a:solidFill>
                      <a:srgbClr val="5B6470"/>
                    </a:solidFill>
                    <a:latin typeface="+mn-lt"/>
                  </a:rPr>
                  <a:t>aging rate a (tokens/s); SJF is a = 0, FCFS the large-a limit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12700" cap="flat">
              <a:solidFill>
                <a:srgbClr val="E3E6E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Worst-case waiting time (s; per-seed max, mean of 10)</a:t>
            </a:r>
          </a:p>
        </c:rich>
      </c:tx>
      <c:layout/>
      <c:overlay val="0"/>
    </c:title>
    <c:autoTitleDeleted val="0"/>
    <c:plotArea>
      <c:layout/>
      <c:lineChart>
        <c:varyColors val="0"/>
        <c:ser>
          <c:idx val="0"/>
          <c:order val="0"/>
          <c:tx>
            <c:strRef>
              <c:f>Sheet1!$B$1</c:f>
              <c:strCache>
                <c:ptCount val="1"/>
                <c:pt idx="0">
                  <c:v>max waiting time (s)</c:v>
                </c:pt>
              </c:strCache>
            </c:strRef>
          </c:tx>
          <c:spPr>
            <a:solidFill>
              <a:srgbClr val="3A4654"/>
            </a:solidFill>
            <a:ln w="25400" cap="flat">
              <a:solidFill>
                <a:srgbClr val="3A4654"/>
              </a:solidFill>
              <a:prstDash val="solid"/>
              <a:round/>
            </a:ln>
            <a:effectLst/>
          </c:spPr>
          <c:invertIfNegative val="0"/>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c:symbol val="circle"/>
            <c:size val="7"/>
            <c:spPr>
              <a:solidFill>
                <a:srgbClr val="3A4654"/>
              </a:solidFill>
              <a:ln w="9525" cap="flat">
                <a:solidFill>
                  <a:srgbClr val="3A4654"/>
                </a:solidFill>
                <a:prstDash val="solid"/>
                <a:round/>
              </a:ln>
              <a:effectLst/>
            </c:spPr>
          </c:marker>
          <c:cat>
            <c:multiLvlStrRef>
              <c:f>Sheet1!$A$2:$A$11</c:f>
              <c:multiLvlStrCache>
                <c:ptCount val="10"/>
                <c:lvl>
                  <c:pt idx="0">
                    <c:v>SJF</c:v>
                  </c:pt>
                  <c:pt idx="1">
                    <c:v>0.5</c:v>
                  </c:pt>
                  <c:pt idx="2">
                    <c:v>1</c:v>
                  </c:pt>
                  <c:pt idx="3">
                    <c:v>2</c:v>
                  </c:pt>
                  <c:pt idx="4">
                    <c:v>3</c:v>
                  </c:pt>
                  <c:pt idx="5">
                    <c:v>5</c:v>
                  </c:pt>
                  <c:pt idx="6">
                    <c:v>10</c:v>
                  </c:pt>
                  <c:pt idx="7">
                    <c:v>30</c:v>
                  </c:pt>
                  <c:pt idx="8">
                    <c:v>100</c:v>
                  </c:pt>
                  <c:pt idx="9">
                    <c:v>FCFS</c:v>
                  </c:pt>
                </c:lvl>
              </c:multiLvlStrCache>
            </c:multiLvlStrRef>
          </c:cat>
          <c:val>
            <c:numRef>
              <c:f>Sheet1!$B$2:$B$11</c:f>
              <c:numCache>
                <c:formatCode>General</c:formatCode>
                <c:ptCount val="10"/>
                <c:pt idx="0">
                  <c:v>1432</c:v>
                </c:pt>
                <c:pt idx="1">
                  <c:v>1266</c:v>
                </c:pt>
                <c:pt idx="2">
                  <c:v>898</c:v>
                </c:pt>
                <c:pt idx="3">
                  <c:v>644</c:v>
                </c:pt>
                <c:pt idx="4">
                  <c:v>562</c:v>
                </c:pt>
                <c:pt idx="5">
                  <c:v>506</c:v>
                </c:pt>
                <c:pt idx="6">
                  <c:v>451</c:v>
                </c:pt>
                <c:pt idx="7">
                  <c:v>430</c:v>
                </c:pt>
                <c:pt idx="8">
                  <c:v>433</c:v>
                </c:pt>
                <c:pt idx="9">
                  <c:v>435</c:v>
                </c:pt>
              </c:numCache>
            </c:numRef>
          </c:val>
          <c:smooth val="0"/>
        </c:ser>
        <c:dLbls>
          <c:numFmt formatCode="#,##0" sourceLinked="0"/>
          <c:txPr>
            <a:bodyPr/>
            <a:lstStyle/>
            <a:p>
              <a:pPr>
                <a:defRPr b="0" i="0" strike="noStrike" sz="1100" u="none">
                  <a:solidFill>
                    <a:srgbClr val="3A465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470"/>
                    </a:solidFill>
                    <a:latin typeface="+mn-lt"/>
                  </a:defRPr>
                </a:pPr>
                <a:r>
                  <a:rPr sz="1200" b="0" i="0" u="none" strike="noStrike">
                    <a:solidFill>
                      <a:srgbClr val="5B6470"/>
                    </a:solidFill>
                    <a:latin typeface="+mn-lt"/>
                  </a:rPr>
                  <a:t>aging rate a (tokens/s); SJF is a = 0, FCFS the large-a limit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we ask whether ordering LLM requests by a predicted output length, the way an operating system orders CPU jobs by burst length, makes requests finish sooner than first-come-first-served, and what it costs. The chips show the idea: the same six requests, wide ones are long generations, orange ones are short. Under FCFS the short ones queue behind the long one; SJF moves them forward. Say up front that everything is a simulation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 generates one token per step, so a request's service time grows with its output length, which ranges from a handful of tokens to thousands. vLLM's paper states it serves requests first-come-first-served. The worked example on the right is the hand-calculated case from Experiment 1: four requests, one second per token. Under FCFS, the two short requests R2 and R3 wait behind R1. Under SJF they go first: mean completion time drops from 6.75 to 6.00 seconds, but R1, the longest of the waiting requests, now waits 7 seconds instead of 4. That trade-off — faster on average, slower for long jobs — is the whole story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research question exactly as written. Then the three objectives, the metrics we judge by, and the scope. The scope box is important for honesty: everything is done in a simulator with one execution slot, seven experiments, ten paired seeds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OS concepts we borrow. Right: the LLM systems most relevant to us, each verified from the paper's abstract or proceedings page. Two corrections to our original synopsis: vLLM's paper says it preempts the latest-arrived requests first, not the oldest; and S3 uses a learned DistilBERT predictor, not a heuristic. Clairvoyant is the closest setting to ours: predictive SJF admission in front of a serial backend. Our contribution is deliberately modest: a validated, reproducible evaluation of known policies, not a new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A seeded generator produces an immutable workload. At arrival the predictor sees only observable prompt features, never the true length. The policy orders the waiting queue. The simulated execution slot runs prefill, which emits the first token, then decodes the remaining tokens at the true length. Metrics are computed per run, per length category and per request. The dashed boxes are planned and not built. The key design decision for validity: the same workload is replayed under every policy, so all comparisons are paired.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of the proposed system is built, as one working pipeline rather than half-finished pieces: 9 of the synopsis's 18 components are complete and one, aging, is partial. Everything on the left is unit-tested: 59 passed in 7.59s. The planned half — MLFQ, both preemption modes, memory and batching, a learned predictor, priority classes — is not started; vLLM and GPU work is blocked by the hardware audit. For the demo, run python experiments/scripts/demo.py: it generates a fixed workload, runs FCFS and SJF on it, prints the comparison, saves CSVs and regenerates a plot. In the recorded run (DEMO_20261028-003120) mean JCT went from 56.4 to 29.4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policies share one interface and are binary-heap queues with an ordering key fixed at admission. FCFS orders by arrival. Predictive SJF orders by predicted output length and never interrupts a running request — it is non-preemptive, which matters when comparing with FastServe. The aging extension subtracts a times the waiting time; because that term is the same for every waiting request at a given moment, it is exactly equivalent to a static key, predicted plus a times arrival time. a = 0 is SJF and very large a is FCFS, both unit-tested. MLFQ needs a time-varying policy and preemption, so it is planned. The heuristic predictor at the bottom uses only observable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on the left: three synthetic workload mixes, Poisson arrivals at a target utilisation, ten paired seeds of five thousand requests, and confidence intervals computed across seeds, never across correlated requests. The service-time constants are assumptions; because load is set as utilisation, rescaling them rescales every time metric equally. On the right is why the simulator can be trusted: an independent Lindley recursion for FCFS agrees to 1.3e-9 seconds; simulated mean waits agree with the Pollaczek-Khinchine and Cobham formulas within 2.2% on average over 27 cells; reruns are bit-identical; all unit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result, EXP2A, mixed workload. The chart shows mean job completion time against load for FCFS, SJF with the heuristic predictor, and SJF with an oracle that knows true lengths — a reference, not deployable. FCFS blows up near saturation; SJF grows much more slowly. At load 0.8 the heuristic cuts mean JCT by 44.6%, interval 43.0 to 46.1, better on all ten seeds; TTFT by 52.5%; P95 by 40.6%. Across loads the reduction goes from 17.6% to 64.9%. Throughput does not change, because both policies keep the slot busy whenever work is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EXP4: mean-JCT improvement over FCFS for each predictor, with its Spearman rank correlation in brackets. Starred bars are references that read the true length plus synthetic noise. The gain degrades smoothly: even sigma 1 keeps most of it. The heuristic captures 88% of the oracle's gain. Two controls matter: random predictions give FCFS's mean, as queueing theory predicts; and prompt length, despite a positive correlation of 0.36, is 9.5% worse than FCFS because it promotes long-form answers, which have short prompts. Right, EXP3: the gain is largest when request sizes vary most — short-heavy has the highest coefficient of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EXP5, mixed workload at load 0.9. Left: mean waiting time by the request's true length category. FCFS treats every category the same, about 85 seconds. SJF cuts short-request waits to about 11 seconds and pushes long-request waits up to 118.4. Right: the worst case per seed for long requests rises from 413 to 1427 seconds with the heuristic and 2710 with the oracle. Three things on the bottom row. The negative result: with heuristic predictions, P99 completion time is worse than FCFS at load 0.9 and above, because the coarse 'very long' prediction class — 5.6% of requests — waits as a block. Prediction error spreads the harm to medium requests. And by slowdown, FCFS is actually the less fair policy for short requests. Nothing in plain SJF bounds a long request's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EXP7, the one extension we built: SJF with linear aging, mixed workload at load 0.9. Read left to right along the aging rate a, in tokens of priority per second waited. The left chart is the mean-JCT gain over FCFS; the right is the worst-case wait. Both fall together. At a = 1, aging keeps 96% of SJF's mean gain and cuts the worst-case wait by 37%. But no rate we tested reaches FCFS's worst case while keeping most of the gain — aging is a dial, not a cure. The grid was chosen on separate development seeds. This is simulated, and it is not production-quality starvation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validity. Biggest threat: a single execution slot. A real server batches many sequences, so short requests can share iterations with long ones and FCFS head-of-line blocking is weaker; our absolute gains are probably overstated for batched serving. Timing constants are assumptions. The workload is synthetic, and our heuristic uses the same features the generator uses, so its accuracy is optimistic — that is why EXP4 sweeps prediction error. We did not implement preemption, so the latency-versus-preemption-overhead question is unanswered. Ten seeds per configuration is enough for means but tails are noisy, and two analyses were post-hoc.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future-work order follows the gaps. First MLFQ with a priority boost, which needs a time-varying policy interface and preemption in the simulator. Then the two preemption modes, recompute and swap, with modelled costs, which finally answers research question six. Then batching with a KV-cache budget to see whether single-slot conclusions survive. Then a learned predictor trained and tested on real prompts with logged lengths. Finally real-hardware validation: a patched vLLM scheduler or an admission proxy in front of a serial backend, replaying the same paired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all from simulation. One: ordering requests by a simple, interpretable length prediction cut mean completion time by 17.6% to 64.9% depending on load, and time to first token by 52.5% at 80% load. Two: the gain depends on ranking long requests correctly; uninformative predictions give nothing, and a misleading feature can be worse than FCFS. Three: long requests pay — worst-case waits grow about 3 to 9 times — and aging trades rather than removes that cost. The practical message: length-aware admission is worth testing on a real batched server, with a starvation guard.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017520"/>
            <a:ext cx="10698480" cy="822960"/>
          </a:xfrm>
          <a:prstGeom prst="rect">
            <a:avLst/>
          </a:prstGeom>
          <a:noFill/>
          <a:ln/>
        </p:spPr>
        <p:txBody>
          <a:bodyPr wrap="square" rtlCol="0"/>
          <a:lstStyle>
            <a:lvl1pPr indent="0" marL="0">
              <a:buNone/>
              <a:defRPr lang="en-US" sz="2000" dirty="0">
                <a:solidFill>
                  <a:srgbClr val="C9D3DE"/>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rgbClr val="1B2430"/>
                </a:solidFill>
              </a:defRPr>
            </a:lvl1pPr>
          </a:lstStyle>
          <a:p>
            <a:pPr algn="l" indent="0" marL="0">
              <a:buNone/>
            </a:pPr>
            <a:endParaRPr lang="en-US" sz="3000" dirty="0"/>
          </a:p>
        </p:txBody>
      </p:sp>
      <p:sp>
        <p:nvSpPr>
          <p:cNvPr id="3"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470"/>
                </a:solidFill>
              </a:rPr>
              <a:t>OS-inspired LLM scheduling · simulation study · all results simulated, not GPU measurements</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OS-Inspired Scheduling for LLM Inference Requests</a:t>
            </a:r>
            <a:endParaRPr lang="en-US" sz="4000" dirty="0"/>
          </a:p>
        </p:txBody>
      </p:sp>
      <p:sp>
        <p:nvSpPr>
          <p:cNvPr id="3" name="Text 0"/>
          <p:cNvSpPr/>
          <p:nvPr>
            <p:ph idx="101" type="body" hasCustomPrompt="1"/>
          </p:nvPr>
        </p:nvSpPr>
        <p:spPr>
          <a:xfrm>
            <a:off x="731520" y="3017520"/>
            <a:ext cx="10698480" cy="822960"/>
          </a:xfrm>
          <a:prstGeom prst="rect">
            <a:avLst/>
          </a:prstGeom>
          <a:noFill/>
          <a:ln/>
        </p:spPr>
        <p:txBody>
          <a:bodyPr wrap="square" lIns="0" tIns="0" rIns="0" bIns="0" rtlCol="0" anchor="t"/>
          <a:lstStyle/>
          <a:p>
            <a:pPr indent="0" marL="0">
              <a:buNone/>
            </a:pPr>
            <a:r>
              <a:rPr lang="en-US" sz="2000" dirty="0">
                <a:solidFill>
                  <a:srgbClr val="C9D3DE"/>
                </a:solidFill>
              </a:rPr>
              <a:t>Predictive Shortest-Job-First vs FCFS using output-length prediction: a validated simulation study</a:t>
            </a:r>
            <a:endParaRPr lang="en-US" sz="2000" dirty="0"/>
          </a:p>
        </p:txBody>
      </p:sp>
      <p:sp>
        <p:nvSpPr>
          <p:cNvPr id="4" name="occasion"/>
          <p:cNvSpPr txBox="1"/>
          <p:nvPr/>
        </p:nvSpPr>
        <p:spPr>
          <a:xfrm>
            <a:off x="731520" y="3977640"/>
            <a:ext cx="7315200" cy="365760"/>
          </a:xfrm>
          <a:prstGeom prst="rect">
            <a:avLst/>
          </a:prstGeom>
          <a:noFill/>
          <a:ln/>
        </p:spPr>
        <p:txBody>
          <a:bodyPr wrap="square" lIns="0" tIns="0" rIns="0" bIns="0" rtlCol="0" anchor="t"/>
          <a:lstStyle/>
          <a:p>
            <a:pPr indent="0" marL="0">
              <a:buNone/>
            </a:pPr>
            <a:r>
              <a:rPr lang="en-US" sz="1600" dirty="0">
                <a:solidFill>
                  <a:srgbClr val="8A93A0"/>
                </a:solidFill>
              </a:rPr>
              <a:t>Final-year B.Tech project review · October 2026</a:t>
            </a:r>
            <a:endParaRPr lang="en-US" sz="1600" dirty="0"/>
          </a:p>
        </p:txBody>
      </p:sp>
      <p:sp>
        <p:nvSpPr>
          <p:cNvPr id="5" name="motif label 0"/>
          <p:cNvSpPr txBox="1"/>
          <p:nvPr/>
        </p:nvSpPr>
        <p:spPr>
          <a:xfrm>
            <a:off x="731520" y="4937760"/>
            <a:ext cx="2926080" cy="320040"/>
          </a:xfrm>
          <a:prstGeom prst="rect">
            <a:avLst/>
          </a:prstGeom>
          <a:noFill/>
          <a:ln/>
        </p:spPr>
        <p:txBody>
          <a:bodyPr wrap="square" lIns="0" tIns="0" rIns="0" bIns="0" rtlCol="0" anchor="t"/>
          <a:lstStyle/>
          <a:p>
            <a:pPr indent="0" marL="0">
              <a:buNone/>
            </a:pPr>
            <a:r>
              <a:rPr lang="en-US" sz="1400" dirty="0">
                <a:solidFill>
                  <a:srgbClr val="C9D3DE"/>
                </a:solidFill>
              </a:rPr>
              <a:t>FCFS: arrival order</a:t>
            </a:r>
            <a:endParaRPr lang="en-US" sz="1400" dirty="0"/>
          </a:p>
        </p:txBody>
      </p:sp>
      <p:sp>
        <p:nvSpPr>
          <p:cNvPr id="6" name="motif chip 0-0"/>
          <p:cNvSpPr/>
          <p:nvPr/>
        </p:nvSpPr>
        <p:spPr>
          <a:xfrm>
            <a:off x="3749040" y="4892040"/>
            <a:ext cx="2194560" cy="384048"/>
          </a:xfrm>
          <a:prstGeom prst="roundRect">
            <a:avLst>
              <a:gd name="adj" fmla="val 14286"/>
            </a:avLst>
          </a:prstGeom>
          <a:solidFill>
            <a:srgbClr val="3A4654"/>
          </a:solidFill>
          <a:ln w="12700">
            <a:solidFill>
              <a:srgbClr val="1B2430"/>
            </a:solidFill>
            <a:prstDash val="solid"/>
          </a:ln>
        </p:spPr>
      </p:sp>
      <p:sp>
        <p:nvSpPr>
          <p:cNvPr id="7" name="motif chip 0-1"/>
          <p:cNvSpPr/>
          <p:nvPr/>
        </p:nvSpPr>
        <p:spPr>
          <a:xfrm>
            <a:off x="6016752" y="4892040"/>
            <a:ext cx="320040" cy="384048"/>
          </a:xfrm>
          <a:prstGeom prst="roundRect">
            <a:avLst>
              <a:gd name="adj" fmla="val 17143"/>
            </a:avLst>
          </a:prstGeom>
          <a:solidFill>
            <a:srgbClr val="EB6834"/>
          </a:solidFill>
          <a:ln w="12700">
            <a:solidFill>
              <a:srgbClr val="1B2430"/>
            </a:solidFill>
            <a:prstDash val="solid"/>
          </a:ln>
        </p:spPr>
      </p:sp>
      <p:sp>
        <p:nvSpPr>
          <p:cNvPr id="8" name="motif chip 0-2"/>
          <p:cNvSpPr/>
          <p:nvPr/>
        </p:nvSpPr>
        <p:spPr>
          <a:xfrm>
            <a:off x="6409944" y="4892040"/>
            <a:ext cx="1188720" cy="384048"/>
          </a:xfrm>
          <a:prstGeom prst="roundRect">
            <a:avLst>
              <a:gd name="adj" fmla="val 14286"/>
            </a:avLst>
          </a:prstGeom>
          <a:solidFill>
            <a:srgbClr val="3A4654"/>
          </a:solidFill>
          <a:ln w="12700">
            <a:solidFill>
              <a:srgbClr val="1B2430"/>
            </a:solidFill>
            <a:prstDash val="solid"/>
          </a:ln>
        </p:spPr>
      </p:sp>
      <p:sp>
        <p:nvSpPr>
          <p:cNvPr id="9" name="motif chip 0-3"/>
          <p:cNvSpPr/>
          <p:nvPr/>
        </p:nvSpPr>
        <p:spPr>
          <a:xfrm>
            <a:off x="7671816" y="4892040"/>
            <a:ext cx="457200" cy="384048"/>
          </a:xfrm>
          <a:prstGeom prst="roundRect">
            <a:avLst>
              <a:gd name="adj" fmla="val 14286"/>
            </a:avLst>
          </a:prstGeom>
          <a:solidFill>
            <a:srgbClr val="EB6834"/>
          </a:solidFill>
          <a:ln w="12700">
            <a:solidFill>
              <a:srgbClr val="1B2430"/>
            </a:solidFill>
            <a:prstDash val="solid"/>
          </a:ln>
        </p:spPr>
      </p:sp>
      <p:sp>
        <p:nvSpPr>
          <p:cNvPr id="10" name="motif chip 0-4"/>
          <p:cNvSpPr/>
          <p:nvPr/>
        </p:nvSpPr>
        <p:spPr>
          <a:xfrm>
            <a:off x="8202168" y="4892040"/>
            <a:ext cx="274320" cy="384048"/>
          </a:xfrm>
          <a:prstGeom prst="roundRect">
            <a:avLst>
              <a:gd name="adj" fmla="val 20000"/>
            </a:avLst>
          </a:prstGeom>
          <a:solidFill>
            <a:srgbClr val="EB6834"/>
          </a:solidFill>
          <a:ln w="12700">
            <a:solidFill>
              <a:srgbClr val="1B2430"/>
            </a:solidFill>
            <a:prstDash val="solid"/>
          </a:ln>
        </p:spPr>
      </p:sp>
      <p:sp>
        <p:nvSpPr>
          <p:cNvPr id="11" name="motif chip 0-5"/>
          <p:cNvSpPr/>
          <p:nvPr/>
        </p:nvSpPr>
        <p:spPr>
          <a:xfrm>
            <a:off x="8549640" y="4892040"/>
            <a:ext cx="822960" cy="384048"/>
          </a:xfrm>
          <a:prstGeom prst="roundRect">
            <a:avLst>
              <a:gd name="adj" fmla="val 14286"/>
            </a:avLst>
          </a:prstGeom>
          <a:solidFill>
            <a:srgbClr val="3A4654"/>
          </a:solidFill>
          <a:ln w="12700">
            <a:solidFill>
              <a:srgbClr val="1B2430"/>
            </a:solidFill>
            <a:prstDash val="solid"/>
          </a:ln>
        </p:spPr>
      </p:sp>
      <p:sp>
        <p:nvSpPr>
          <p:cNvPr id="12" name="motif label 1"/>
          <p:cNvSpPr txBox="1"/>
          <p:nvPr/>
        </p:nvSpPr>
        <p:spPr>
          <a:xfrm>
            <a:off x="731520" y="5504688"/>
            <a:ext cx="2926080" cy="320040"/>
          </a:xfrm>
          <a:prstGeom prst="rect">
            <a:avLst/>
          </a:prstGeom>
          <a:noFill/>
          <a:ln/>
        </p:spPr>
        <p:txBody>
          <a:bodyPr wrap="square" lIns="0" tIns="0" rIns="0" bIns="0" rtlCol="0" anchor="t"/>
          <a:lstStyle/>
          <a:p>
            <a:pPr indent="0" marL="0">
              <a:buNone/>
            </a:pPr>
            <a:r>
              <a:rPr lang="en-US" sz="1400" dirty="0">
                <a:solidFill>
                  <a:srgbClr val="C9D3DE"/>
                </a:solidFill>
              </a:rPr>
              <a:t>SJF: shortest predicted first</a:t>
            </a:r>
            <a:endParaRPr lang="en-US" sz="1400" dirty="0"/>
          </a:p>
        </p:txBody>
      </p:sp>
      <p:sp>
        <p:nvSpPr>
          <p:cNvPr id="13" name="motif chip 1-0"/>
          <p:cNvSpPr/>
          <p:nvPr/>
        </p:nvSpPr>
        <p:spPr>
          <a:xfrm>
            <a:off x="3749040" y="5458968"/>
            <a:ext cx="274320" cy="384048"/>
          </a:xfrm>
          <a:prstGeom prst="roundRect">
            <a:avLst>
              <a:gd name="adj" fmla="val 20000"/>
            </a:avLst>
          </a:prstGeom>
          <a:solidFill>
            <a:srgbClr val="EB6834"/>
          </a:solidFill>
          <a:ln w="12700">
            <a:solidFill>
              <a:srgbClr val="1B2430"/>
            </a:solidFill>
            <a:prstDash val="solid"/>
          </a:ln>
        </p:spPr>
      </p:sp>
      <p:sp>
        <p:nvSpPr>
          <p:cNvPr id="14" name="motif chip 1-1"/>
          <p:cNvSpPr/>
          <p:nvPr/>
        </p:nvSpPr>
        <p:spPr>
          <a:xfrm>
            <a:off x="4096512" y="5458968"/>
            <a:ext cx="320040" cy="384048"/>
          </a:xfrm>
          <a:prstGeom prst="roundRect">
            <a:avLst>
              <a:gd name="adj" fmla="val 17143"/>
            </a:avLst>
          </a:prstGeom>
          <a:solidFill>
            <a:srgbClr val="EB6834"/>
          </a:solidFill>
          <a:ln w="12700">
            <a:solidFill>
              <a:srgbClr val="1B2430"/>
            </a:solidFill>
            <a:prstDash val="solid"/>
          </a:ln>
        </p:spPr>
      </p:sp>
      <p:sp>
        <p:nvSpPr>
          <p:cNvPr id="15" name="motif chip 1-2"/>
          <p:cNvSpPr/>
          <p:nvPr/>
        </p:nvSpPr>
        <p:spPr>
          <a:xfrm>
            <a:off x="4489704" y="5458968"/>
            <a:ext cx="457200" cy="384048"/>
          </a:xfrm>
          <a:prstGeom prst="roundRect">
            <a:avLst>
              <a:gd name="adj" fmla="val 14286"/>
            </a:avLst>
          </a:prstGeom>
          <a:solidFill>
            <a:srgbClr val="EB6834"/>
          </a:solidFill>
          <a:ln w="12700">
            <a:solidFill>
              <a:srgbClr val="1B2430"/>
            </a:solidFill>
            <a:prstDash val="solid"/>
          </a:ln>
        </p:spPr>
      </p:sp>
      <p:sp>
        <p:nvSpPr>
          <p:cNvPr id="16" name="motif chip 1-3"/>
          <p:cNvSpPr/>
          <p:nvPr/>
        </p:nvSpPr>
        <p:spPr>
          <a:xfrm>
            <a:off x="5020056" y="5458968"/>
            <a:ext cx="822960" cy="384048"/>
          </a:xfrm>
          <a:prstGeom prst="roundRect">
            <a:avLst>
              <a:gd name="adj" fmla="val 14286"/>
            </a:avLst>
          </a:prstGeom>
          <a:solidFill>
            <a:srgbClr val="3A4654"/>
          </a:solidFill>
          <a:ln w="12700">
            <a:solidFill>
              <a:srgbClr val="1B2430"/>
            </a:solidFill>
            <a:prstDash val="solid"/>
          </a:ln>
        </p:spPr>
      </p:sp>
      <p:sp>
        <p:nvSpPr>
          <p:cNvPr id="17" name="motif chip 1-4"/>
          <p:cNvSpPr/>
          <p:nvPr/>
        </p:nvSpPr>
        <p:spPr>
          <a:xfrm>
            <a:off x="5916168" y="5458968"/>
            <a:ext cx="1188720" cy="384048"/>
          </a:xfrm>
          <a:prstGeom prst="roundRect">
            <a:avLst>
              <a:gd name="adj" fmla="val 14286"/>
            </a:avLst>
          </a:prstGeom>
          <a:solidFill>
            <a:srgbClr val="3A4654"/>
          </a:solidFill>
          <a:ln w="12700">
            <a:solidFill>
              <a:srgbClr val="1B2430"/>
            </a:solidFill>
            <a:prstDash val="solid"/>
          </a:ln>
        </p:spPr>
      </p:sp>
      <p:sp>
        <p:nvSpPr>
          <p:cNvPr id="18" name="motif chip 1-5"/>
          <p:cNvSpPr/>
          <p:nvPr/>
        </p:nvSpPr>
        <p:spPr>
          <a:xfrm>
            <a:off x="7178040" y="5458968"/>
            <a:ext cx="2194560" cy="384048"/>
          </a:xfrm>
          <a:prstGeom prst="roundRect">
            <a:avLst>
              <a:gd name="adj" fmla="val 14286"/>
            </a:avLst>
          </a:prstGeom>
          <a:solidFill>
            <a:srgbClr val="3A4654"/>
          </a:solidFill>
          <a:ln w="12700">
            <a:solidFill>
              <a:srgbClr val="1B243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Under FCFS, short requests wait behind long ones</a:t>
            </a:r>
            <a:endParaRPr lang="en-US" sz="3000" dirty="0"/>
          </a:p>
        </p:txBody>
      </p:sp>
      <p:sp>
        <p:nvSpPr>
          <p:cNvPr id="4" name="motivation bullets"/>
          <p:cNvSpPr txBox="1"/>
          <p:nvPr/>
        </p:nvSpPr>
        <p:spPr>
          <a:xfrm>
            <a:off x="548640" y="1417320"/>
            <a:ext cx="493776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B2430"/>
                </a:solidFill>
              </a:rPr>
              <a:t>One token per model step: generation time grows with output length</a:t>
            </a:r>
            <a:endParaRPr lang="en-US" sz="1700" dirty="0"/>
          </a:p>
          <a:p>
            <a:pPr marL="342900" indent="-342900">
              <a:spcAft>
                <a:spcPts val="1000"/>
              </a:spcAft>
              <a:buSzPct val="100000"/>
              <a:buChar char="•"/>
            </a:pPr>
            <a:r>
              <a:rPr lang="en-US" sz="1700" dirty="0">
                <a:solidFill>
                  <a:srgbClr val="1B2430"/>
                </a:solidFill>
              </a:rPr>
              <a:t>Output lengths span a few tokens to thousands</a:t>
            </a:r>
            <a:endParaRPr lang="en-US" sz="1700" dirty="0"/>
          </a:p>
          <a:p>
            <a:pPr marL="342900" indent="-342900">
              <a:spcAft>
                <a:spcPts val="1000"/>
              </a:spcAft>
              <a:buSzPct val="100000"/>
              <a:buChar char="•"/>
            </a:pPr>
            <a:r>
              <a:rPr lang="en-US" sz="1700" dirty="0">
                <a:solidFill>
                  <a:srgbClr val="1B2430"/>
                </a:solidFill>
              </a:rPr>
              <a:t>vLLM admits waiting requests first-come, first-served</a:t>
            </a:r>
            <a:endParaRPr lang="en-US" sz="1700" dirty="0"/>
          </a:p>
          <a:p>
            <a:pPr marL="342900" indent="-342900">
              <a:spcAft>
                <a:spcPts val="1000"/>
              </a:spcAft>
              <a:buSzPct val="100000"/>
              <a:buChar char="•"/>
            </a:pPr>
            <a:r>
              <a:rPr lang="en-US" sz="1700" dirty="0">
                <a:solidFill>
                  <a:srgbClr val="1B2430"/>
                </a:solidFill>
              </a:rPr>
              <a:t>OS answer to the same convoy effect: Shortest-Job-First, with aging against starvation</a:t>
            </a:r>
            <a:endParaRPr lang="en-US" sz="1700" dirty="0"/>
          </a:p>
        </p:txBody>
      </p:sp>
      <p:sp>
        <p:nvSpPr>
          <p:cNvPr id="5" name="citation"/>
          <p:cNvSpPr txBox="1"/>
          <p:nvPr/>
        </p:nvSpPr>
        <p:spPr>
          <a:xfrm>
            <a:off x="548640" y="5897880"/>
            <a:ext cx="5120640" cy="365760"/>
          </a:xfrm>
          <a:prstGeom prst="rect">
            <a:avLst/>
          </a:prstGeom>
          <a:noFill/>
          <a:ln/>
        </p:spPr>
        <p:txBody>
          <a:bodyPr wrap="square" lIns="0" tIns="0" rIns="0" bIns="0" rtlCol="0" anchor="t"/>
          <a:lstStyle/>
          <a:p>
            <a:pPr indent="0" marL="0">
              <a:buNone/>
            </a:pPr>
            <a:r>
              <a:rPr lang="en-US" sz="1000" dirty="0">
                <a:solidFill>
                  <a:srgbClr val="5B6470"/>
                </a:solidFill>
              </a:rPr>
              <a:t>Kwon et al., Efficient Memory Management for LLM Serving with PagedAttention, SOSP 2023.</a:t>
            </a:r>
            <a:endParaRPr lang="en-US" sz="1000" dirty="0"/>
          </a:p>
        </p:txBody>
      </p:sp>
      <p:sp>
        <p:nvSpPr>
          <p:cNvPr id="6" name="FCFS row label"/>
          <p:cNvSpPr txBox="1"/>
          <p:nvPr/>
        </p:nvSpPr>
        <p:spPr>
          <a:xfrm>
            <a:off x="5623560" y="1965960"/>
            <a:ext cx="640080" cy="320040"/>
          </a:xfrm>
          <a:prstGeom prst="rect">
            <a:avLst/>
          </a:prstGeom>
          <a:noFill/>
          <a:ln/>
        </p:spPr>
        <p:txBody>
          <a:bodyPr wrap="square" lIns="0" tIns="0" rIns="0" bIns="0" rtlCol="0" anchor="t"/>
          <a:lstStyle/>
          <a:p>
            <a:pPr indent="0" marL="0">
              <a:buNone/>
            </a:pPr>
            <a:r>
              <a:rPr lang="en-US" sz="1500" b="1" dirty="0">
                <a:solidFill>
                  <a:srgbClr val="1B2430"/>
                </a:solidFill>
              </a:rPr>
              <a:t>FCFS</a:t>
            </a:r>
            <a:endParaRPr lang="en-US" sz="1500" dirty="0"/>
          </a:p>
        </p:txBody>
      </p:sp>
      <p:sp>
        <p:nvSpPr>
          <p:cNvPr id="7" name="FCFS R0"/>
          <p:cNvSpPr/>
          <p:nvPr/>
        </p:nvSpPr>
        <p:spPr>
          <a:xfrm>
            <a:off x="6355080" y="1874520"/>
            <a:ext cx="2249424" cy="502920"/>
          </a:xfrm>
          <a:prstGeom prst="rect">
            <a:avLst/>
          </a:prstGeom>
          <a:solidFill>
            <a:srgbClr val="3A465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R0</a:t>
            </a:r>
            <a:endParaRPr lang="en-US" sz="1300" dirty="0"/>
          </a:p>
        </p:txBody>
      </p:sp>
      <p:sp>
        <p:nvSpPr>
          <p:cNvPr id="8" name="FCFS R1"/>
          <p:cNvSpPr/>
          <p:nvPr/>
        </p:nvSpPr>
        <p:spPr>
          <a:xfrm>
            <a:off x="8641080" y="1874520"/>
            <a:ext cx="1335024" cy="502920"/>
          </a:xfrm>
          <a:prstGeom prst="rect">
            <a:avLst/>
          </a:prstGeom>
          <a:solidFill>
            <a:srgbClr val="3A465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R1</a:t>
            </a:r>
            <a:endParaRPr lang="en-US" sz="1300" dirty="0"/>
          </a:p>
        </p:txBody>
      </p:sp>
      <p:sp>
        <p:nvSpPr>
          <p:cNvPr id="9" name="FCFS R2"/>
          <p:cNvSpPr/>
          <p:nvPr/>
        </p:nvSpPr>
        <p:spPr>
          <a:xfrm>
            <a:off x="10012680" y="1874520"/>
            <a:ext cx="420624" cy="502920"/>
          </a:xfrm>
          <a:prstGeom prst="rect">
            <a:avLst/>
          </a:prstGeom>
          <a:solidFill>
            <a:srgbClr val="EB683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R2</a:t>
            </a:r>
            <a:endParaRPr lang="en-US" sz="1300" dirty="0"/>
          </a:p>
        </p:txBody>
      </p:sp>
      <p:sp>
        <p:nvSpPr>
          <p:cNvPr id="10" name="FCFS R3"/>
          <p:cNvSpPr/>
          <p:nvPr/>
        </p:nvSpPr>
        <p:spPr>
          <a:xfrm>
            <a:off x="10469880" y="1874520"/>
            <a:ext cx="877824" cy="502920"/>
          </a:xfrm>
          <a:prstGeom prst="rect">
            <a:avLst/>
          </a:prstGeom>
          <a:solidFill>
            <a:srgbClr val="EB683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R3</a:t>
            </a:r>
            <a:endParaRPr lang="en-US" sz="1300" dirty="0"/>
          </a:p>
        </p:txBody>
      </p:sp>
      <p:sp>
        <p:nvSpPr>
          <p:cNvPr id="11" name="FCFS mean"/>
          <p:cNvSpPr txBox="1"/>
          <p:nvPr/>
        </p:nvSpPr>
        <p:spPr>
          <a:xfrm>
            <a:off x="6355080" y="2450592"/>
            <a:ext cx="5029200" cy="292608"/>
          </a:xfrm>
          <a:prstGeom prst="rect">
            <a:avLst/>
          </a:prstGeom>
          <a:noFill/>
          <a:ln/>
        </p:spPr>
        <p:txBody>
          <a:bodyPr wrap="square" lIns="0" tIns="0" rIns="0" bIns="0" rtlCol="0" anchor="t"/>
          <a:lstStyle/>
          <a:p>
            <a:pPr indent="0" marL="0">
              <a:buNone/>
            </a:pPr>
            <a:r>
              <a:rPr lang="en-US" sz="1400" dirty="0">
                <a:solidFill>
                  <a:srgbClr val="5B6470"/>
                </a:solidFill>
              </a:rPr>
              <a:t>mean JCT 6.75 s</a:t>
            </a:r>
            <a:endParaRPr lang="en-US" sz="1400" dirty="0"/>
          </a:p>
        </p:txBody>
      </p:sp>
      <p:sp>
        <p:nvSpPr>
          <p:cNvPr id="12" name="SJF row label"/>
          <p:cNvSpPr txBox="1"/>
          <p:nvPr/>
        </p:nvSpPr>
        <p:spPr>
          <a:xfrm>
            <a:off x="5623560" y="3337560"/>
            <a:ext cx="640080" cy="320040"/>
          </a:xfrm>
          <a:prstGeom prst="rect">
            <a:avLst/>
          </a:prstGeom>
          <a:noFill/>
          <a:ln/>
        </p:spPr>
        <p:txBody>
          <a:bodyPr wrap="square" lIns="0" tIns="0" rIns="0" bIns="0" rtlCol="0" anchor="t"/>
          <a:lstStyle/>
          <a:p>
            <a:pPr indent="0" marL="0">
              <a:buNone/>
            </a:pPr>
            <a:r>
              <a:rPr lang="en-US" sz="1500" b="1" dirty="0">
                <a:solidFill>
                  <a:srgbClr val="1B2430"/>
                </a:solidFill>
              </a:rPr>
              <a:t>SJF</a:t>
            </a:r>
            <a:endParaRPr lang="en-US" sz="1500" dirty="0"/>
          </a:p>
        </p:txBody>
      </p:sp>
      <p:sp>
        <p:nvSpPr>
          <p:cNvPr id="13" name="SJF R0"/>
          <p:cNvSpPr/>
          <p:nvPr/>
        </p:nvSpPr>
        <p:spPr>
          <a:xfrm>
            <a:off x="6355080" y="3246120"/>
            <a:ext cx="2249424" cy="502920"/>
          </a:xfrm>
          <a:prstGeom prst="rect">
            <a:avLst/>
          </a:prstGeom>
          <a:solidFill>
            <a:srgbClr val="3A465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R0</a:t>
            </a:r>
            <a:endParaRPr lang="en-US" sz="1300" dirty="0"/>
          </a:p>
        </p:txBody>
      </p:sp>
      <p:sp>
        <p:nvSpPr>
          <p:cNvPr id="14" name="SJF R2"/>
          <p:cNvSpPr/>
          <p:nvPr/>
        </p:nvSpPr>
        <p:spPr>
          <a:xfrm>
            <a:off x="8641080" y="3246120"/>
            <a:ext cx="420624" cy="502920"/>
          </a:xfrm>
          <a:prstGeom prst="rect">
            <a:avLst/>
          </a:prstGeom>
          <a:solidFill>
            <a:srgbClr val="EB683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R2</a:t>
            </a:r>
            <a:endParaRPr lang="en-US" sz="1300" dirty="0"/>
          </a:p>
        </p:txBody>
      </p:sp>
      <p:sp>
        <p:nvSpPr>
          <p:cNvPr id="15" name="SJF R3"/>
          <p:cNvSpPr/>
          <p:nvPr/>
        </p:nvSpPr>
        <p:spPr>
          <a:xfrm>
            <a:off x="9098280" y="3246120"/>
            <a:ext cx="877824" cy="502920"/>
          </a:xfrm>
          <a:prstGeom prst="rect">
            <a:avLst/>
          </a:prstGeom>
          <a:solidFill>
            <a:srgbClr val="EB683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R3</a:t>
            </a:r>
            <a:endParaRPr lang="en-US" sz="1300" dirty="0"/>
          </a:p>
        </p:txBody>
      </p:sp>
      <p:sp>
        <p:nvSpPr>
          <p:cNvPr id="16" name="SJF R1"/>
          <p:cNvSpPr/>
          <p:nvPr/>
        </p:nvSpPr>
        <p:spPr>
          <a:xfrm>
            <a:off x="10012680" y="3246120"/>
            <a:ext cx="1335024" cy="502920"/>
          </a:xfrm>
          <a:prstGeom prst="rect">
            <a:avLst/>
          </a:prstGeom>
          <a:solidFill>
            <a:srgbClr val="3A4654"/>
          </a:solidFill>
          <a:ln w="12700">
            <a:solidFill>
              <a:srgbClr val="FFFFFF"/>
            </a:solidFill>
          </a:ln>
        </p:spPr>
        <p:txBody>
          <a:bodyPr wrap="square" lIns="0" tIns="0" rIns="0" bIns="0" rtlCol="0" anchor="ctr"/>
          <a:lstStyle/>
          <a:p>
            <a:pPr algn="ctr" indent="0" marL="0">
              <a:buNone/>
            </a:pPr>
            <a:r>
              <a:rPr lang="en-US" sz="1300" b="1" dirty="0">
                <a:solidFill>
                  <a:srgbClr val="FFFFFF"/>
                </a:solidFill>
              </a:rPr>
              <a:t>R1</a:t>
            </a:r>
            <a:endParaRPr lang="en-US" sz="1300" dirty="0"/>
          </a:p>
        </p:txBody>
      </p:sp>
      <p:sp>
        <p:nvSpPr>
          <p:cNvPr id="17" name="SJF mean"/>
          <p:cNvSpPr txBox="1"/>
          <p:nvPr/>
        </p:nvSpPr>
        <p:spPr>
          <a:xfrm>
            <a:off x="6355080" y="3822192"/>
            <a:ext cx="5029200" cy="292608"/>
          </a:xfrm>
          <a:prstGeom prst="rect">
            <a:avLst/>
          </a:prstGeom>
          <a:noFill/>
          <a:ln/>
        </p:spPr>
        <p:txBody>
          <a:bodyPr wrap="square" lIns="0" tIns="0" rIns="0" bIns="0" rtlCol="0" anchor="t"/>
          <a:lstStyle/>
          <a:p>
            <a:pPr indent="0" marL="0">
              <a:buNone/>
            </a:pPr>
            <a:r>
              <a:rPr lang="en-US" sz="1400" dirty="0">
                <a:solidFill>
                  <a:srgbClr val="5B6470"/>
                </a:solidFill>
              </a:rPr>
              <a:t>mean JCT 6.00 s</a:t>
            </a:r>
            <a:endParaRPr lang="en-US" sz="1400" dirty="0"/>
          </a:p>
        </p:txBody>
      </p:sp>
      <p:sp>
        <p:nvSpPr>
          <p:cNvPr id="18" name="time axis"/>
          <p:cNvSpPr/>
          <p:nvPr/>
        </p:nvSpPr>
        <p:spPr>
          <a:xfrm>
            <a:off x="6355080" y="4343400"/>
            <a:ext cx="5029200" cy="0"/>
          </a:xfrm>
          <a:prstGeom prst="line">
            <a:avLst/>
          </a:prstGeom>
          <a:noFill/>
          <a:ln w="12700">
            <a:solidFill>
              <a:srgbClr val="C3C9D1"/>
            </a:solidFill>
            <a:prstDash val="solid"/>
          </a:ln>
        </p:spPr>
      </p:sp>
      <p:sp>
        <p:nvSpPr>
          <p:cNvPr id="19" name="tick 0"/>
          <p:cNvSpPr txBox="1"/>
          <p:nvPr/>
        </p:nvSpPr>
        <p:spPr>
          <a:xfrm>
            <a:off x="62179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0</a:t>
            </a:r>
            <a:endParaRPr lang="en-US" sz="1100" dirty="0"/>
          </a:p>
        </p:txBody>
      </p:sp>
      <p:sp>
        <p:nvSpPr>
          <p:cNvPr id="20" name="tick 1"/>
          <p:cNvSpPr txBox="1"/>
          <p:nvPr/>
        </p:nvSpPr>
        <p:spPr>
          <a:xfrm>
            <a:off x="66751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1</a:t>
            </a:r>
            <a:endParaRPr lang="en-US" sz="1100" dirty="0"/>
          </a:p>
        </p:txBody>
      </p:sp>
      <p:sp>
        <p:nvSpPr>
          <p:cNvPr id="21" name="tick 2"/>
          <p:cNvSpPr txBox="1"/>
          <p:nvPr/>
        </p:nvSpPr>
        <p:spPr>
          <a:xfrm>
            <a:off x="71323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2</a:t>
            </a:r>
            <a:endParaRPr lang="en-US" sz="1100" dirty="0"/>
          </a:p>
        </p:txBody>
      </p:sp>
      <p:sp>
        <p:nvSpPr>
          <p:cNvPr id="22" name="tick 3"/>
          <p:cNvSpPr txBox="1"/>
          <p:nvPr/>
        </p:nvSpPr>
        <p:spPr>
          <a:xfrm>
            <a:off x="75895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3</a:t>
            </a:r>
            <a:endParaRPr lang="en-US" sz="1100" dirty="0"/>
          </a:p>
        </p:txBody>
      </p:sp>
      <p:sp>
        <p:nvSpPr>
          <p:cNvPr id="23" name="tick 4"/>
          <p:cNvSpPr txBox="1"/>
          <p:nvPr/>
        </p:nvSpPr>
        <p:spPr>
          <a:xfrm>
            <a:off x="80467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4</a:t>
            </a:r>
            <a:endParaRPr lang="en-US" sz="1100" dirty="0"/>
          </a:p>
        </p:txBody>
      </p:sp>
      <p:sp>
        <p:nvSpPr>
          <p:cNvPr id="24" name="tick 5"/>
          <p:cNvSpPr txBox="1"/>
          <p:nvPr/>
        </p:nvSpPr>
        <p:spPr>
          <a:xfrm>
            <a:off x="85039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5</a:t>
            </a:r>
            <a:endParaRPr lang="en-US" sz="1100" dirty="0"/>
          </a:p>
        </p:txBody>
      </p:sp>
      <p:sp>
        <p:nvSpPr>
          <p:cNvPr id="25" name="tick 6"/>
          <p:cNvSpPr txBox="1"/>
          <p:nvPr/>
        </p:nvSpPr>
        <p:spPr>
          <a:xfrm>
            <a:off x="89611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6</a:t>
            </a:r>
            <a:endParaRPr lang="en-US" sz="1100" dirty="0"/>
          </a:p>
        </p:txBody>
      </p:sp>
      <p:sp>
        <p:nvSpPr>
          <p:cNvPr id="26" name="tick 7"/>
          <p:cNvSpPr txBox="1"/>
          <p:nvPr/>
        </p:nvSpPr>
        <p:spPr>
          <a:xfrm>
            <a:off x="94183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7</a:t>
            </a:r>
            <a:endParaRPr lang="en-US" sz="1100" dirty="0"/>
          </a:p>
        </p:txBody>
      </p:sp>
      <p:sp>
        <p:nvSpPr>
          <p:cNvPr id="27" name="tick 8"/>
          <p:cNvSpPr txBox="1"/>
          <p:nvPr/>
        </p:nvSpPr>
        <p:spPr>
          <a:xfrm>
            <a:off x="98755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8</a:t>
            </a:r>
            <a:endParaRPr lang="en-US" sz="1100" dirty="0"/>
          </a:p>
        </p:txBody>
      </p:sp>
      <p:sp>
        <p:nvSpPr>
          <p:cNvPr id="28" name="tick 9"/>
          <p:cNvSpPr txBox="1"/>
          <p:nvPr/>
        </p:nvSpPr>
        <p:spPr>
          <a:xfrm>
            <a:off x="103327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9</a:t>
            </a:r>
            <a:endParaRPr lang="en-US" sz="1100" dirty="0"/>
          </a:p>
        </p:txBody>
      </p:sp>
      <p:sp>
        <p:nvSpPr>
          <p:cNvPr id="29" name="tick 10"/>
          <p:cNvSpPr txBox="1"/>
          <p:nvPr/>
        </p:nvSpPr>
        <p:spPr>
          <a:xfrm>
            <a:off x="107899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10</a:t>
            </a:r>
            <a:endParaRPr lang="en-US" sz="1100" dirty="0"/>
          </a:p>
        </p:txBody>
      </p:sp>
      <p:sp>
        <p:nvSpPr>
          <p:cNvPr id="30" name="tick 11"/>
          <p:cNvSpPr txBox="1"/>
          <p:nvPr/>
        </p:nvSpPr>
        <p:spPr>
          <a:xfrm>
            <a:off x="11247120" y="4398264"/>
            <a:ext cx="274320" cy="228600"/>
          </a:xfrm>
          <a:prstGeom prst="rect">
            <a:avLst/>
          </a:prstGeom>
          <a:noFill/>
          <a:ln/>
        </p:spPr>
        <p:txBody>
          <a:bodyPr wrap="square" lIns="0" tIns="0" rIns="0" bIns="0" rtlCol="0" anchor="t"/>
          <a:lstStyle/>
          <a:p>
            <a:pPr algn="ctr" indent="0" marL="0">
              <a:buNone/>
            </a:pPr>
            <a:r>
              <a:rPr lang="en-US" sz="1100" dirty="0">
                <a:solidFill>
                  <a:srgbClr val="5B6470"/>
                </a:solidFill>
              </a:rPr>
              <a:t>11</a:t>
            </a:r>
            <a:endParaRPr lang="en-US" sz="1100" dirty="0"/>
          </a:p>
        </p:txBody>
      </p:sp>
      <p:sp>
        <p:nvSpPr>
          <p:cNvPr id="31" name="axis caption"/>
          <p:cNvSpPr txBox="1"/>
          <p:nvPr/>
        </p:nvSpPr>
        <p:spPr>
          <a:xfrm>
            <a:off x="6355080" y="4672584"/>
            <a:ext cx="5303520" cy="274320"/>
          </a:xfrm>
          <a:prstGeom prst="rect">
            <a:avLst/>
          </a:prstGeom>
          <a:noFill/>
          <a:ln/>
        </p:spPr>
        <p:txBody>
          <a:bodyPr wrap="square" lIns="0" tIns="0" rIns="0" bIns="0" rtlCol="0" anchor="t"/>
          <a:lstStyle/>
          <a:p>
            <a:pPr indent="0" marL="0">
              <a:buNone/>
            </a:pPr>
            <a:r>
              <a:rPr lang="en-US" sz="1100" dirty="0">
                <a:solidFill>
                  <a:srgbClr val="5B6470"/>
                </a:solidFill>
              </a:rPr>
              <a:t>time (s); arrivals R0 t=0, R1 t=1, R2 t=2, R3 t=3; lengths 5, 3, 1, 2 tokens</a:t>
            </a:r>
            <a:endParaRPr lang="en-US" sz="1100" dirty="0"/>
          </a:p>
        </p:txBody>
      </p:sp>
      <p:sp>
        <p:nvSpPr>
          <p:cNvPr id="32" name="tradeoff card"/>
          <p:cNvSpPr/>
          <p:nvPr/>
        </p:nvSpPr>
        <p:spPr>
          <a:xfrm>
            <a:off x="5623560" y="5074920"/>
            <a:ext cx="5760720" cy="868680"/>
          </a:xfrm>
          <a:prstGeom prst="roundRect">
            <a:avLst>
              <a:gd name="adj" fmla="val 8421"/>
            </a:avLst>
          </a:prstGeom>
          <a:solidFill>
            <a:srgbClr val="EEF1F5"/>
          </a:solidFill>
          <a:ln w="6350">
            <a:solidFill>
              <a:srgbClr val="EEF1F5"/>
            </a:solidFill>
            <a:prstDash val="solid"/>
          </a:ln>
        </p:spPr>
      </p:sp>
      <p:sp>
        <p:nvSpPr>
          <p:cNvPr id="33" name="tradeoff text"/>
          <p:cNvSpPr txBox="1"/>
          <p:nvPr/>
        </p:nvSpPr>
        <p:spPr>
          <a:xfrm>
            <a:off x="5806440" y="5230368"/>
            <a:ext cx="5486400" cy="548640"/>
          </a:xfrm>
          <a:prstGeom prst="rect">
            <a:avLst/>
          </a:prstGeom>
          <a:noFill/>
          <a:ln/>
        </p:spPr>
        <p:txBody>
          <a:bodyPr wrap="square" lIns="0" tIns="0" rIns="0" bIns="0" rtlCol="0" anchor="ctr"/>
          <a:lstStyle/>
          <a:p>
            <a:pPr indent="0" marL="0">
              <a:buNone/>
            </a:pPr>
            <a:r>
              <a:rPr lang="en-US" sz="1500" dirty="0">
                <a:solidFill>
                  <a:srgbClr val="1B2430"/>
                </a:solidFill>
              </a:rPr>
              <a:t>SJF: R2 and R3 finish sooner; R1 waits 7 s instead of 4 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Research question and objectives</a:t>
            </a:r>
            <a:endParaRPr lang="en-US" sz="3000" dirty="0"/>
          </a:p>
        </p:txBody>
      </p:sp>
      <p:sp>
        <p:nvSpPr>
          <p:cNvPr id="4" name="question card"/>
          <p:cNvSpPr/>
          <p:nvPr/>
        </p:nvSpPr>
        <p:spPr>
          <a:xfrm>
            <a:off x="548640" y="1325880"/>
            <a:ext cx="11064240" cy="1234440"/>
          </a:xfrm>
          <a:prstGeom prst="roundRect">
            <a:avLst>
              <a:gd name="adj" fmla="val 5926"/>
            </a:avLst>
          </a:prstGeom>
          <a:solidFill>
            <a:srgbClr val="EEF1F5"/>
          </a:solidFill>
          <a:ln w="6350">
            <a:solidFill>
              <a:srgbClr val="EEF1F5"/>
            </a:solidFill>
            <a:prstDash val="solid"/>
          </a:ln>
        </p:spPr>
      </p:sp>
      <p:sp>
        <p:nvSpPr>
          <p:cNvPr id="5" name="research question"/>
          <p:cNvSpPr txBox="1"/>
          <p:nvPr/>
        </p:nvSpPr>
        <p:spPr>
          <a:xfrm>
            <a:off x="822960" y="1463040"/>
            <a:ext cx="10515600" cy="960120"/>
          </a:xfrm>
          <a:prstGeom prst="rect">
            <a:avLst/>
          </a:prstGeom>
          <a:noFill/>
          <a:ln/>
        </p:spPr>
        <p:txBody>
          <a:bodyPr wrap="square" lIns="0" tIns="0" rIns="0" bIns="0" rtlCol="0" anchor="ctr"/>
          <a:lstStyle/>
          <a:p>
            <a:pPr indent="0" marL="0">
              <a:buNone/>
            </a:pPr>
            <a:r>
              <a:rPr lang="en-US" sz="2000" i="1" dirty="0">
                <a:solidFill>
                  <a:srgbClr val="1B2430"/>
                </a:solidFill>
              </a:rPr>
              <a:t>Can lightweight output-length prediction plus OS-style scheduling make LLM requests finish sooner than FCFS, without unacceptable fairness or overhead costs?</a:t>
            </a:r>
            <a:endParaRPr lang="en-US" sz="2000" dirty="0"/>
          </a:p>
        </p:txBody>
      </p:sp>
      <p:sp>
        <p:nvSpPr>
          <p:cNvPr id="6" name="objective badge 0"/>
          <p:cNvSpPr/>
          <p:nvPr/>
        </p:nvSpPr>
        <p:spPr>
          <a:xfrm>
            <a:off x="548640" y="2880360"/>
            <a:ext cx="384048" cy="384048"/>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col head 0"/>
          <p:cNvSpPr txBox="1"/>
          <p:nvPr/>
        </p:nvSpPr>
        <p:spPr>
          <a:xfrm>
            <a:off x="1051560" y="2898648"/>
            <a:ext cx="3017520" cy="365760"/>
          </a:xfrm>
          <a:prstGeom prst="rect">
            <a:avLst/>
          </a:prstGeom>
          <a:noFill/>
          <a:ln/>
        </p:spPr>
        <p:txBody>
          <a:bodyPr wrap="square" lIns="0" tIns="0" rIns="0" bIns="0" rtlCol="0" anchor="t"/>
          <a:lstStyle/>
          <a:p>
            <a:pPr indent="0" marL="0">
              <a:buNone/>
            </a:pPr>
            <a:r>
              <a:rPr lang="en-US" sz="1800" b="1" dirty="0">
                <a:solidFill>
                  <a:srgbClr val="1B2430"/>
                </a:solidFill>
              </a:rPr>
              <a:t>Objectives</a:t>
            </a:r>
            <a:endParaRPr lang="en-US" sz="1800" dirty="0"/>
          </a:p>
        </p:txBody>
      </p:sp>
      <p:sp>
        <p:nvSpPr>
          <p:cNvPr id="8" name="col body 0"/>
          <p:cNvSpPr txBox="1"/>
          <p:nvPr/>
        </p:nvSpPr>
        <p:spPr>
          <a:xfrm>
            <a:off x="548640" y="3429000"/>
            <a:ext cx="3474720" cy="1600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430"/>
                </a:solidFill>
              </a:rPr>
              <a:t>Predict output length at admission</a:t>
            </a:r>
            <a:endParaRPr lang="en-US" sz="1500" dirty="0"/>
          </a:p>
          <a:p>
            <a:pPr marL="342900" indent="-342900">
              <a:spcAft>
                <a:spcPts val="800"/>
              </a:spcAft>
              <a:buSzPct val="100000"/>
              <a:buChar char="•"/>
            </a:pPr>
            <a:r>
              <a:rPr lang="en-US" sz="1500" dirty="0">
                <a:solidFill>
                  <a:srgbClr val="1B2430"/>
                </a:solidFill>
              </a:rPr>
              <a:t>Order requests with OS policies (SJF, aging)</a:t>
            </a:r>
            <a:endParaRPr lang="en-US" sz="1500" dirty="0"/>
          </a:p>
          <a:p>
            <a:pPr marL="342900" indent="-342900">
              <a:spcAft>
                <a:spcPts val="800"/>
              </a:spcAft>
              <a:buSzPct val="100000"/>
              <a:buChar char="•"/>
            </a:pPr>
            <a:r>
              <a:rPr lang="en-US" sz="1500" dirty="0">
                <a:solidFill>
                  <a:srgbClr val="1B2430"/>
                </a:solidFill>
              </a:rPr>
              <a:t>Compare with FCFS on identical workloads</a:t>
            </a:r>
            <a:endParaRPr lang="en-US" sz="1500" dirty="0"/>
          </a:p>
        </p:txBody>
      </p:sp>
      <p:sp>
        <p:nvSpPr>
          <p:cNvPr id="9" name="objective badge 1"/>
          <p:cNvSpPr/>
          <p:nvPr/>
        </p:nvSpPr>
        <p:spPr>
          <a:xfrm>
            <a:off x="4297680" y="2880360"/>
            <a:ext cx="384048" cy="384048"/>
          </a:xfrm>
          <a:prstGeom prst="ellipse">
            <a:avLst/>
          </a:prstGeom>
          <a:solidFill>
            <a:srgbClr val="2A78D6"/>
          </a:solidFill>
          <a:ln>
            <a:solidFill>
              <a:srgbClr val="2A78D6"/>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col head 1"/>
          <p:cNvSpPr txBox="1"/>
          <p:nvPr/>
        </p:nvSpPr>
        <p:spPr>
          <a:xfrm>
            <a:off x="4800600" y="2898648"/>
            <a:ext cx="3017520" cy="365760"/>
          </a:xfrm>
          <a:prstGeom prst="rect">
            <a:avLst/>
          </a:prstGeom>
          <a:noFill/>
          <a:ln/>
        </p:spPr>
        <p:txBody>
          <a:bodyPr wrap="square" lIns="0" tIns="0" rIns="0" bIns="0" rtlCol="0" anchor="t"/>
          <a:lstStyle/>
          <a:p>
            <a:pPr indent="0" marL="0">
              <a:buNone/>
            </a:pPr>
            <a:r>
              <a:rPr lang="en-US" sz="1800" b="1" dirty="0">
                <a:solidFill>
                  <a:srgbClr val="1B2430"/>
                </a:solidFill>
              </a:rPr>
              <a:t>Evaluation criteria</a:t>
            </a:r>
            <a:endParaRPr lang="en-US" sz="1800" dirty="0"/>
          </a:p>
        </p:txBody>
      </p:sp>
      <p:sp>
        <p:nvSpPr>
          <p:cNvPr id="11" name="col body 1"/>
          <p:cNvSpPr txBox="1"/>
          <p:nvPr/>
        </p:nvSpPr>
        <p:spPr>
          <a:xfrm>
            <a:off x="4297680" y="3429000"/>
            <a:ext cx="3474720" cy="1600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430"/>
                </a:solidFill>
              </a:rPr>
              <a:t>TTFT and mean / median / P95 / P99 JCT</a:t>
            </a:r>
            <a:endParaRPr lang="en-US" sz="1500" dirty="0"/>
          </a:p>
          <a:p>
            <a:pPr marL="342900" indent="-342900">
              <a:spcAft>
                <a:spcPts val="800"/>
              </a:spcAft>
              <a:buSzPct val="100000"/>
              <a:buChar char="•"/>
            </a:pPr>
            <a:r>
              <a:rPr lang="en-US" sz="1500" dirty="0">
                <a:solidFill>
                  <a:srgbClr val="1B2430"/>
                </a:solidFill>
              </a:rPr>
              <a:t>Throughput (requests/s, tokens/s)</a:t>
            </a:r>
            <a:endParaRPr lang="en-US" sz="1500" dirty="0"/>
          </a:p>
          <a:p>
            <a:pPr marL="342900" indent="-342900">
              <a:spcAft>
                <a:spcPts val="800"/>
              </a:spcAft>
              <a:buSzPct val="100000"/>
              <a:buChar char="•"/>
            </a:pPr>
            <a:r>
              <a:rPr lang="en-US" sz="1500" dirty="0">
                <a:solidFill>
                  <a:srgbClr val="1B2430"/>
                </a:solidFill>
              </a:rPr>
              <a:t>Waiting by length category; overhead</a:t>
            </a:r>
            <a:endParaRPr lang="en-US" sz="1500" dirty="0"/>
          </a:p>
        </p:txBody>
      </p:sp>
      <p:sp>
        <p:nvSpPr>
          <p:cNvPr id="12" name="objective badge 2"/>
          <p:cNvSpPr/>
          <p:nvPr/>
        </p:nvSpPr>
        <p:spPr>
          <a:xfrm>
            <a:off x="8046720" y="2880360"/>
            <a:ext cx="384048" cy="38404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col head 2"/>
          <p:cNvSpPr txBox="1"/>
          <p:nvPr/>
        </p:nvSpPr>
        <p:spPr>
          <a:xfrm>
            <a:off x="8549640" y="2898648"/>
            <a:ext cx="3017520" cy="365760"/>
          </a:xfrm>
          <a:prstGeom prst="rect">
            <a:avLst/>
          </a:prstGeom>
          <a:noFill/>
          <a:ln/>
        </p:spPr>
        <p:txBody>
          <a:bodyPr wrap="square" lIns="0" tIns="0" rIns="0" bIns="0" rtlCol="0" anchor="t"/>
          <a:lstStyle/>
          <a:p>
            <a:pPr indent="0" marL="0">
              <a:buNone/>
            </a:pPr>
            <a:r>
              <a:rPr lang="en-US" sz="1800" b="1" dirty="0">
                <a:solidFill>
                  <a:srgbClr val="1B2430"/>
                </a:solidFill>
              </a:rPr>
              <a:t>Scope</a:t>
            </a:r>
            <a:endParaRPr lang="en-US" sz="1800" dirty="0"/>
          </a:p>
        </p:txBody>
      </p:sp>
      <p:sp>
        <p:nvSpPr>
          <p:cNvPr id="14" name="col body 2"/>
          <p:cNvSpPr txBox="1"/>
          <p:nvPr/>
        </p:nvSpPr>
        <p:spPr>
          <a:xfrm>
            <a:off x="8046720" y="3429000"/>
            <a:ext cx="3474720" cy="1600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430"/>
                </a:solidFill>
              </a:rPr>
              <a:t>Discrete-event simulation, one execution slot</a:t>
            </a:r>
            <a:endParaRPr lang="en-US" sz="1500" dirty="0"/>
          </a:p>
          <a:p>
            <a:pPr marL="342900" indent="-342900">
              <a:spcAft>
                <a:spcPts val="800"/>
              </a:spcAft>
              <a:buSzPct val="100000"/>
              <a:buChar char="•"/>
            </a:pPr>
            <a:r>
              <a:rPr lang="en-US" sz="1500" dirty="0">
                <a:solidFill>
                  <a:srgbClr val="1B2430"/>
                </a:solidFill>
              </a:rPr>
              <a:t>7 experiments, 10 paired seeds each</a:t>
            </a:r>
            <a:endParaRPr lang="en-US" sz="1500" dirty="0"/>
          </a:p>
          <a:p>
            <a:pPr marL="342900" indent="-342900">
              <a:spcAft>
                <a:spcPts val="800"/>
              </a:spcAft>
              <a:buSzPct val="100000"/>
              <a:buChar char="•"/>
            </a:pPr>
            <a:r>
              <a:rPr lang="en-US" sz="1500" dirty="0">
                <a:solidFill>
                  <a:srgbClr val="1B2430"/>
                </a:solidFill>
              </a:rPr>
              <a:t>Planned work clearly separated</a:t>
            </a:r>
            <a:endParaRPr lang="en-US" sz="1500" dirty="0"/>
          </a:p>
        </p:txBody>
      </p:sp>
      <p:sp>
        <p:nvSpPr>
          <p:cNvPr id="15" name="exp strip head"/>
          <p:cNvSpPr txBox="1"/>
          <p:nvPr/>
        </p:nvSpPr>
        <p:spPr>
          <a:xfrm>
            <a:off x="548640" y="5074920"/>
            <a:ext cx="2743200" cy="320040"/>
          </a:xfrm>
          <a:prstGeom prst="rect">
            <a:avLst/>
          </a:prstGeom>
          <a:noFill/>
          <a:ln/>
        </p:spPr>
        <p:txBody>
          <a:bodyPr wrap="square" lIns="0" tIns="0" rIns="0" bIns="0" rtlCol="0" anchor="t"/>
          <a:lstStyle/>
          <a:p>
            <a:pPr indent="0" marL="0">
              <a:buNone/>
            </a:pPr>
            <a:r>
              <a:rPr lang="en-US" sz="1500" b="1" dirty="0">
                <a:solidFill>
                  <a:srgbClr val="1B2430"/>
                </a:solidFill>
              </a:rPr>
              <a:t>Experiments</a:t>
            </a:r>
            <a:endParaRPr lang="en-US" sz="1500" dirty="0"/>
          </a:p>
        </p:txBody>
      </p:sp>
      <p:sp>
        <p:nvSpPr>
          <p:cNvPr id="16" name="exp chip 0"/>
          <p:cNvSpPr/>
          <p:nvPr/>
        </p:nvSpPr>
        <p:spPr>
          <a:xfrm>
            <a:off x="548640" y="5468112"/>
            <a:ext cx="1463040" cy="566928"/>
          </a:xfrm>
          <a:prstGeom prst="roundRect">
            <a:avLst>
              <a:gd name="adj" fmla="val 12903"/>
            </a:avLst>
          </a:prstGeom>
          <a:solidFill>
            <a:srgbClr val="EEF1F5"/>
          </a:solidFill>
          <a:ln w="6350">
            <a:solidFill>
              <a:srgbClr val="EEF1F5"/>
            </a:solidFill>
          </a:ln>
        </p:spPr>
        <p:txBody>
          <a:bodyPr wrap="square" lIns="508" tIns="508" rIns="508" bIns="508" rtlCol="0" anchor="ctr"/>
          <a:lstStyle/>
          <a:p>
            <a:pPr algn="ctr" indent="0" marL="0">
              <a:buNone/>
            </a:pPr>
            <a:r>
              <a:rPr lang="en-US" sz="1300" dirty="0">
                <a:solidFill>
                  <a:srgbClr val="1B2430"/>
                </a:solidFill>
              </a:rPr>
              <a:t>EXP1 validation</a:t>
            </a:r>
            <a:endParaRPr lang="en-US" sz="1300" dirty="0"/>
          </a:p>
        </p:txBody>
      </p:sp>
      <p:sp>
        <p:nvSpPr>
          <p:cNvPr id="17" name="exp chip 1"/>
          <p:cNvSpPr/>
          <p:nvPr/>
        </p:nvSpPr>
        <p:spPr>
          <a:xfrm>
            <a:off x="2148840" y="5468112"/>
            <a:ext cx="1463040" cy="566928"/>
          </a:xfrm>
          <a:prstGeom prst="roundRect">
            <a:avLst>
              <a:gd name="adj" fmla="val 12903"/>
            </a:avLst>
          </a:prstGeom>
          <a:solidFill>
            <a:srgbClr val="EEF1F5"/>
          </a:solidFill>
          <a:ln w="6350">
            <a:solidFill>
              <a:srgbClr val="EEF1F5"/>
            </a:solidFill>
          </a:ln>
        </p:spPr>
        <p:txBody>
          <a:bodyPr wrap="square" lIns="508" tIns="508" rIns="508" bIns="508" rtlCol="0" anchor="ctr"/>
          <a:lstStyle/>
          <a:p>
            <a:pPr algn="ctr" indent="0" marL="0">
              <a:buNone/>
            </a:pPr>
            <a:r>
              <a:rPr lang="en-US" sz="1300" dirty="0">
                <a:solidFill>
                  <a:srgbClr val="1B2430"/>
                </a:solidFill>
              </a:rPr>
              <a:t>EXP2 FCFS vs SJF</a:t>
            </a:r>
            <a:endParaRPr lang="en-US" sz="1300" dirty="0"/>
          </a:p>
        </p:txBody>
      </p:sp>
      <p:sp>
        <p:nvSpPr>
          <p:cNvPr id="18" name="exp chip 2"/>
          <p:cNvSpPr/>
          <p:nvPr/>
        </p:nvSpPr>
        <p:spPr>
          <a:xfrm>
            <a:off x="3749040" y="5468112"/>
            <a:ext cx="1463040" cy="566928"/>
          </a:xfrm>
          <a:prstGeom prst="roundRect">
            <a:avLst>
              <a:gd name="adj" fmla="val 12903"/>
            </a:avLst>
          </a:prstGeom>
          <a:solidFill>
            <a:srgbClr val="EEF1F5"/>
          </a:solidFill>
          <a:ln w="6350">
            <a:solidFill>
              <a:srgbClr val="EEF1F5"/>
            </a:solidFill>
          </a:ln>
        </p:spPr>
        <p:txBody>
          <a:bodyPr wrap="square" lIns="508" tIns="508" rIns="508" bIns="508" rtlCol="0" anchor="ctr"/>
          <a:lstStyle/>
          <a:p>
            <a:pPr algn="ctr" indent="0" marL="0">
              <a:buNone/>
            </a:pPr>
            <a:r>
              <a:rPr lang="en-US" sz="1300" dirty="0">
                <a:solidFill>
                  <a:srgbClr val="1B2430"/>
                </a:solidFill>
              </a:rPr>
              <a:t>EXP3 composition</a:t>
            </a:r>
            <a:endParaRPr lang="en-US" sz="1300" dirty="0"/>
          </a:p>
        </p:txBody>
      </p:sp>
      <p:sp>
        <p:nvSpPr>
          <p:cNvPr id="19" name="exp chip 3"/>
          <p:cNvSpPr/>
          <p:nvPr/>
        </p:nvSpPr>
        <p:spPr>
          <a:xfrm>
            <a:off x="5349240" y="5468112"/>
            <a:ext cx="1463040" cy="566928"/>
          </a:xfrm>
          <a:prstGeom prst="roundRect">
            <a:avLst>
              <a:gd name="adj" fmla="val 12903"/>
            </a:avLst>
          </a:prstGeom>
          <a:solidFill>
            <a:srgbClr val="EEF1F5"/>
          </a:solidFill>
          <a:ln w="6350">
            <a:solidFill>
              <a:srgbClr val="EEF1F5"/>
            </a:solidFill>
          </a:ln>
        </p:spPr>
        <p:txBody>
          <a:bodyPr wrap="square" lIns="508" tIns="508" rIns="508" bIns="508" rtlCol="0" anchor="ctr"/>
          <a:lstStyle/>
          <a:p>
            <a:pPr algn="ctr" indent="0" marL="0">
              <a:buNone/>
            </a:pPr>
            <a:r>
              <a:rPr lang="en-US" sz="1300" dirty="0">
                <a:solidFill>
                  <a:srgbClr val="1B2430"/>
                </a:solidFill>
              </a:rPr>
              <a:t>EXP4 predictor quality</a:t>
            </a:r>
            <a:endParaRPr lang="en-US" sz="1300" dirty="0"/>
          </a:p>
        </p:txBody>
      </p:sp>
      <p:sp>
        <p:nvSpPr>
          <p:cNvPr id="20" name="exp chip 4"/>
          <p:cNvSpPr/>
          <p:nvPr/>
        </p:nvSpPr>
        <p:spPr>
          <a:xfrm>
            <a:off x="6949440" y="5468112"/>
            <a:ext cx="1463040" cy="566928"/>
          </a:xfrm>
          <a:prstGeom prst="roundRect">
            <a:avLst>
              <a:gd name="adj" fmla="val 12903"/>
            </a:avLst>
          </a:prstGeom>
          <a:solidFill>
            <a:srgbClr val="EEF1F5"/>
          </a:solidFill>
          <a:ln w="6350">
            <a:solidFill>
              <a:srgbClr val="EEF1F5"/>
            </a:solidFill>
          </a:ln>
        </p:spPr>
        <p:txBody>
          <a:bodyPr wrap="square" lIns="508" tIns="508" rIns="508" bIns="508" rtlCol="0" anchor="ctr"/>
          <a:lstStyle/>
          <a:p>
            <a:pPr algn="ctr" indent="0" marL="0">
              <a:buNone/>
            </a:pPr>
            <a:r>
              <a:rPr lang="en-US" sz="1300" dirty="0">
                <a:solidFill>
                  <a:srgbClr val="1B2430"/>
                </a:solidFill>
              </a:rPr>
              <a:t>EXP5 fairness</a:t>
            </a:r>
            <a:endParaRPr lang="en-US" sz="1300" dirty="0"/>
          </a:p>
        </p:txBody>
      </p:sp>
      <p:sp>
        <p:nvSpPr>
          <p:cNvPr id="21" name="exp chip 5"/>
          <p:cNvSpPr/>
          <p:nvPr/>
        </p:nvSpPr>
        <p:spPr>
          <a:xfrm>
            <a:off x="8549640" y="5468112"/>
            <a:ext cx="1463040" cy="566928"/>
          </a:xfrm>
          <a:prstGeom prst="roundRect">
            <a:avLst>
              <a:gd name="adj" fmla="val 12903"/>
            </a:avLst>
          </a:prstGeom>
          <a:solidFill>
            <a:srgbClr val="EEF1F5"/>
          </a:solidFill>
          <a:ln w="6350">
            <a:solidFill>
              <a:srgbClr val="EEF1F5"/>
            </a:solidFill>
          </a:ln>
        </p:spPr>
        <p:txBody>
          <a:bodyPr wrap="square" lIns="508" tIns="508" rIns="508" bIns="508" rtlCol="0" anchor="ctr"/>
          <a:lstStyle/>
          <a:p>
            <a:pPr algn="ctr" indent="0" marL="0">
              <a:buNone/>
            </a:pPr>
            <a:r>
              <a:rPr lang="en-US" sz="1300" dirty="0">
                <a:solidFill>
                  <a:srgbClr val="1B2430"/>
                </a:solidFill>
              </a:rPr>
              <a:t>EXP6 size</a:t>
            </a:r>
            <a:endParaRPr lang="en-US" sz="1300" dirty="0"/>
          </a:p>
        </p:txBody>
      </p:sp>
      <p:sp>
        <p:nvSpPr>
          <p:cNvPr id="22" name="exp chip 6"/>
          <p:cNvSpPr/>
          <p:nvPr/>
        </p:nvSpPr>
        <p:spPr>
          <a:xfrm>
            <a:off x="10149840" y="5468112"/>
            <a:ext cx="1463040" cy="566928"/>
          </a:xfrm>
          <a:prstGeom prst="roundRect">
            <a:avLst>
              <a:gd name="adj" fmla="val 12903"/>
            </a:avLst>
          </a:prstGeom>
          <a:solidFill>
            <a:srgbClr val="FFFFFF"/>
          </a:solidFill>
          <a:ln w="12700">
            <a:solidFill>
              <a:srgbClr val="8A93A0"/>
            </a:solidFill>
            <a:prstDash val="dash"/>
          </a:ln>
        </p:spPr>
        <p:txBody>
          <a:bodyPr wrap="square" lIns="508" tIns="508" rIns="508" bIns="508" rtlCol="0" anchor="ctr"/>
          <a:lstStyle/>
          <a:p>
            <a:pPr algn="ctr" indent="0" marL="0">
              <a:buNone/>
            </a:pPr>
            <a:r>
              <a:rPr lang="en-US" sz="1300" dirty="0">
                <a:solidFill>
                  <a:srgbClr val="1B2430"/>
                </a:solidFill>
              </a:rPr>
              <a:t>EXP7 aging (ext.)</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Where this project sits in prior work</a:t>
            </a:r>
            <a:endParaRPr lang="en-US" sz="3000" dirty="0"/>
          </a:p>
        </p:txBody>
      </p:sp>
      <p:sp>
        <p:nvSpPr>
          <p:cNvPr id="4" name="os head"/>
          <p:cNvSpPr txBox="1"/>
          <p:nvPr/>
        </p:nvSpPr>
        <p:spPr>
          <a:xfrm>
            <a:off x="548640" y="1325880"/>
            <a:ext cx="3840480" cy="365760"/>
          </a:xfrm>
          <a:prstGeom prst="rect">
            <a:avLst/>
          </a:prstGeom>
          <a:noFill/>
          <a:ln/>
        </p:spPr>
        <p:txBody>
          <a:bodyPr wrap="square" lIns="0" tIns="0" rIns="0" bIns="0" rtlCol="0" anchor="t"/>
          <a:lstStyle/>
          <a:p>
            <a:pPr indent="0" marL="0">
              <a:buNone/>
            </a:pPr>
            <a:r>
              <a:rPr lang="en-US" sz="1800" b="1" dirty="0">
                <a:solidFill>
                  <a:srgbClr val="1B2430"/>
                </a:solidFill>
              </a:rPr>
              <a:t>OS scheduling concepts</a:t>
            </a:r>
            <a:endParaRPr lang="en-US" sz="1800" dirty="0"/>
          </a:p>
        </p:txBody>
      </p:sp>
      <p:sp>
        <p:nvSpPr>
          <p:cNvPr id="5" name="os card 0"/>
          <p:cNvSpPr/>
          <p:nvPr/>
        </p:nvSpPr>
        <p:spPr>
          <a:xfrm>
            <a:off x="548640" y="1828800"/>
            <a:ext cx="3840480" cy="731520"/>
          </a:xfrm>
          <a:prstGeom prst="roundRect">
            <a:avLst>
              <a:gd name="adj" fmla="val 10000"/>
            </a:avLst>
          </a:prstGeom>
          <a:solidFill>
            <a:srgbClr val="EEF1F5"/>
          </a:solidFill>
          <a:ln w="6350">
            <a:solidFill>
              <a:srgbClr val="EEF1F5"/>
            </a:solidFill>
            <a:prstDash val="solid"/>
          </a:ln>
        </p:spPr>
      </p:sp>
      <p:sp>
        <p:nvSpPr>
          <p:cNvPr id="6" name="os key 0"/>
          <p:cNvSpPr txBox="1"/>
          <p:nvPr/>
        </p:nvSpPr>
        <p:spPr>
          <a:xfrm>
            <a:off x="731520" y="1901952"/>
            <a:ext cx="3566160" cy="292608"/>
          </a:xfrm>
          <a:prstGeom prst="rect">
            <a:avLst/>
          </a:prstGeom>
          <a:noFill/>
          <a:ln/>
        </p:spPr>
        <p:txBody>
          <a:bodyPr wrap="square" lIns="0" tIns="0" rIns="0" bIns="0" rtlCol="0" anchor="t"/>
          <a:lstStyle/>
          <a:p>
            <a:pPr indent="0" marL="0">
              <a:buNone/>
            </a:pPr>
            <a:r>
              <a:rPr lang="en-US" sz="1600" b="1" dirty="0">
                <a:solidFill>
                  <a:srgbClr val="1B2430"/>
                </a:solidFill>
              </a:rPr>
              <a:t>FCFS</a:t>
            </a:r>
            <a:endParaRPr lang="en-US" sz="1600" dirty="0"/>
          </a:p>
        </p:txBody>
      </p:sp>
      <p:sp>
        <p:nvSpPr>
          <p:cNvPr id="7" name="os val 0"/>
          <p:cNvSpPr txBox="1"/>
          <p:nvPr/>
        </p:nvSpPr>
        <p:spPr>
          <a:xfrm>
            <a:off x="731520" y="2212848"/>
            <a:ext cx="3566160" cy="292608"/>
          </a:xfrm>
          <a:prstGeom prst="rect">
            <a:avLst/>
          </a:prstGeom>
          <a:noFill/>
          <a:ln/>
        </p:spPr>
        <p:txBody>
          <a:bodyPr wrap="square" lIns="0" tIns="0" rIns="0" bIns="0" rtlCol="0" anchor="t"/>
          <a:lstStyle/>
          <a:p>
            <a:pPr indent="0" marL="0">
              <a:buNone/>
            </a:pPr>
            <a:r>
              <a:rPr lang="en-US" sz="1400" dirty="0">
                <a:solidFill>
                  <a:srgbClr val="5B6470"/>
                </a:solidFill>
              </a:rPr>
              <a:t>serve in arrival order</a:t>
            </a:r>
            <a:endParaRPr lang="en-US" sz="1400" dirty="0"/>
          </a:p>
        </p:txBody>
      </p:sp>
      <p:sp>
        <p:nvSpPr>
          <p:cNvPr id="8" name="os card 1"/>
          <p:cNvSpPr/>
          <p:nvPr/>
        </p:nvSpPr>
        <p:spPr>
          <a:xfrm>
            <a:off x="548640" y="2697480"/>
            <a:ext cx="3840480" cy="731520"/>
          </a:xfrm>
          <a:prstGeom prst="roundRect">
            <a:avLst>
              <a:gd name="adj" fmla="val 10000"/>
            </a:avLst>
          </a:prstGeom>
          <a:solidFill>
            <a:srgbClr val="EEF1F5"/>
          </a:solidFill>
          <a:ln w="6350">
            <a:solidFill>
              <a:srgbClr val="EEF1F5"/>
            </a:solidFill>
            <a:prstDash val="solid"/>
          </a:ln>
        </p:spPr>
      </p:sp>
      <p:sp>
        <p:nvSpPr>
          <p:cNvPr id="9" name="os key 1"/>
          <p:cNvSpPr txBox="1"/>
          <p:nvPr/>
        </p:nvSpPr>
        <p:spPr>
          <a:xfrm>
            <a:off x="731520" y="2770632"/>
            <a:ext cx="3566160" cy="292608"/>
          </a:xfrm>
          <a:prstGeom prst="rect">
            <a:avLst/>
          </a:prstGeom>
          <a:noFill/>
          <a:ln/>
        </p:spPr>
        <p:txBody>
          <a:bodyPr wrap="square" lIns="0" tIns="0" rIns="0" bIns="0" rtlCol="0" anchor="t"/>
          <a:lstStyle/>
          <a:p>
            <a:pPr indent="0" marL="0">
              <a:buNone/>
            </a:pPr>
            <a:r>
              <a:rPr lang="en-US" sz="1600" b="1" dirty="0">
                <a:solidFill>
                  <a:srgbClr val="1B2430"/>
                </a:solidFill>
              </a:rPr>
              <a:t>SJF</a:t>
            </a:r>
            <a:endParaRPr lang="en-US" sz="1600" dirty="0"/>
          </a:p>
        </p:txBody>
      </p:sp>
      <p:sp>
        <p:nvSpPr>
          <p:cNvPr id="10" name="os val 1"/>
          <p:cNvSpPr txBox="1"/>
          <p:nvPr/>
        </p:nvSpPr>
        <p:spPr>
          <a:xfrm>
            <a:off x="731520" y="3081528"/>
            <a:ext cx="3566160" cy="292608"/>
          </a:xfrm>
          <a:prstGeom prst="rect">
            <a:avLst/>
          </a:prstGeom>
          <a:noFill/>
          <a:ln/>
        </p:spPr>
        <p:txBody>
          <a:bodyPr wrap="square" lIns="0" tIns="0" rIns="0" bIns="0" rtlCol="0" anchor="t"/>
          <a:lstStyle/>
          <a:p>
            <a:pPr indent="0" marL="0">
              <a:buNone/>
            </a:pPr>
            <a:r>
              <a:rPr lang="en-US" sz="1400" dirty="0">
                <a:solidFill>
                  <a:srgbClr val="5B6470"/>
                </a:solidFill>
              </a:rPr>
              <a:t>shortest job first; minimises mean wait</a:t>
            </a:r>
            <a:endParaRPr lang="en-US" sz="1400" dirty="0"/>
          </a:p>
        </p:txBody>
      </p:sp>
      <p:sp>
        <p:nvSpPr>
          <p:cNvPr id="11" name="os card 2"/>
          <p:cNvSpPr/>
          <p:nvPr/>
        </p:nvSpPr>
        <p:spPr>
          <a:xfrm>
            <a:off x="548640" y="3566160"/>
            <a:ext cx="3840480" cy="731520"/>
          </a:xfrm>
          <a:prstGeom prst="roundRect">
            <a:avLst>
              <a:gd name="adj" fmla="val 10000"/>
            </a:avLst>
          </a:prstGeom>
          <a:solidFill>
            <a:srgbClr val="EEF1F5"/>
          </a:solidFill>
          <a:ln w="6350">
            <a:solidFill>
              <a:srgbClr val="EEF1F5"/>
            </a:solidFill>
            <a:prstDash val="solid"/>
          </a:ln>
        </p:spPr>
      </p:sp>
      <p:sp>
        <p:nvSpPr>
          <p:cNvPr id="12" name="os key 2"/>
          <p:cNvSpPr txBox="1"/>
          <p:nvPr/>
        </p:nvSpPr>
        <p:spPr>
          <a:xfrm>
            <a:off x="731520" y="3639312"/>
            <a:ext cx="3566160" cy="292608"/>
          </a:xfrm>
          <a:prstGeom prst="rect">
            <a:avLst/>
          </a:prstGeom>
          <a:noFill/>
          <a:ln/>
        </p:spPr>
        <p:txBody>
          <a:bodyPr wrap="square" lIns="0" tIns="0" rIns="0" bIns="0" rtlCol="0" anchor="t"/>
          <a:lstStyle/>
          <a:p>
            <a:pPr indent="0" marL="0">
              <a:buNone/>
            </a:pPr>
            <a:r>
              <a:rPr lang="en-US" sz="1600" b="1" dirty="0">
                <a:solidFill>
                  <a:srgbClr val="1B2430"/>
                </a:solidFill>
              </a:rPr>
              <a:t>MLFQ</a:t>
            </a:r>
            <a:endParaRPr lang="en-US" sz="1600" dirty="0"/>
          </a:p>
        </p:txBody>
      </p:sp>
      <p:sp>
        <p:nvSpPr>
          <p:cNvPr id="13" name="os val 2"/>
          <p:cNvSpPr txBox="1"/>
          <p:nvPr/>
        </p:nvSpPr>
        <p:spPr>
          <a:xfrm>
            <a:off x="731520" y="3950208"/>
            <a:ext cx="3566160" cy="292608"/>
          </a:xfrm>
          <a:prstGeom prst="rect">
            <a:avLst/>
          </a:prstGeom>
          <a:noFill/>
          <a:ln/>
        </p:spPr>
        <p:txBody>
          <a:bodyPr wrap="square" lIns="0" tIns="0" rIns="0" bIns="0" rtlCol="0" anchor="t"/>
          <a:lstStyle/>
          <a:p>
            <a:pPr indent="0" marL="0">
              <a:buNone/>
            </a:pPr>
            <a:r>
              <a:rPr lang="en-US" sz="1400" dirty="0">
                <a:solidFill>
                  <a:srgbClr val="5B6470"/>
                </a:solidFill>
              </a:rPr>
              <a:t>learn length online by demotion</a:t>
            </a:r>
            <a:endParaRPr lang="en-US" sz="1400" dirty="0"/>
          </a:p>
        </p:txBody>
      </p:sp>
      <p:sp>
        <p:nvSpPr>
          <p:cNvPr id="14" name="os card 3"/>
          <p:cNvSpPr/>
          <p:nvPr/>
        </p:nvSpPr>
        <p:spPr>
          <a:xfrm>
            <a:off x="548640" y="4434840"/>
            <a:ext cx="3840480" cy="731520"/>
          </a:xfrm>
          <a:prstGeom prst="roundRect">
            <a:avLst>
              <a:gd name="adj" fmla="val 10000"/>
            </a:avLst>
          </a:prstGeom>
          <a:solidFill>
            <a:srgbClr val="EEF1F5"/>
          </a:solidFill>
          <a:ln w="6350">
            <a:solidFill>
              <a:srgbClr val="EEF1F5"/>
            </a:solidFill>
            <a:prstDash val="solid"/>
          </a:ln>
        </p:spPr>
      </p:sp>
      <p:sp>
        <p:nvSpPr>
          <p:cNvPr id="15" name="os key 3"/>
          <p:cNvSpPr txBox="1"/>
          <p:nvPr/>
        </p:nvSpPr>
        <p:spPr>
          <a:xfrm>
            <a:off x="731520" y="4507992"/>
            <a:ext cx="3566160" cy="292608"/>
          </a:xfrm>
          <a:prstGeom prst="rect">
            <a:avLst/>
          </a:prstGeom>
          <a:noFill/>
          <a:ln/>
        </p:spPr>
        <p:txBody>
          <a:bodyPr wrap="square" lIns="0" tIns="0" rIns="0" bIns="0" rtlCol="0" anchor="t"/>
          <a:lstStyle/>
          <a:p>
            <a:pPr indent="0" marL="0">
              <a:buNone/>
            </a:pPr>
            <a:r>
              <a:rPr lang="en-US" sz="1600" b="1" dirty="0">
                <a:solidFill>
                  <a:srgbClr val="1B2430"/>
                </a:solidFill>
              </a:rPr>
              <a:t>Aging</a:t>
            </a:r>
            <a:endParaRPr lang="en-US" sz="1600" dirty="0"/>
          </a:p>
        </p:txBody>
      </p:sp>
      <p:sp>
        <p:nvSpPr>
          <p:cNvPr id="16" name="os val 3"/>
          <p:cNvSpPr txBox="1"/>
          <p:nvPr/>
        </p:nvSpPr>
        <p:spPr>
          <a:xfrm>
            <a:off x="731520" y="4818888"/>
            <a:ext cx="3566160" cy="292608"/>
          </a:xfrm>
          <a:prstGeom prst="rect">
            <a:avLst/>
          </a:prstGeom>
          <a:noFill/>
          <a:ln/>
        </p:spPr>
        <p:txBody>
          <a:bodyPr wrap="square" lIns="0" tIns="0" rIns="0" bIns="0" rtlCol="0" anchor="t"/>
          <a:lstStyle/>
          <a:p>
            <a:pPr indent="0" marL="0">
              <a:buNone/>
            </a:pPr>
            <a:r>
              <a:rPr lang="en-US" sz="1400" dirty="0">
                <a:solidFill>
                  <a:srgbClr val="5B6470"/>
                </a:solidFill>
              </a:rPr>
              <a:t>raise priority while waiting</a:t>
            </a:r>
            <a:endParaRPr lang="en-US" sz="1400" dirty="0"/>
          </a:p>
        </p:txBody>
      </p:sp>
      <p:graphicFrame>
        <p:nvGraphicFramePr>
          <p:cNvPr id="5" name="related work table"/>
          <p:cNvGraphicFramePr>
            <a:graphicFrameLocks noGrp="1"/>
          </p:cNvGraphicFramePr>
          <p:nvPr>
            <p:extLst>
              <p:ext uri="{D42A27DB-BD31-4B8C-83A1-F6EECF244321}">
                <p14:modId xmlns:p14="http://schemas.microsoft.com/office/powerpoint/2010/main" val="1579011935"/>
              </p:ext>
            </p:extLst>
          </p:nvPr>
        </p:nvGraphicFramePr>
        <p:xfrm>
          <a:off x="4754880" y="1371600"/>
          <a:ext cx="6858000" cy="914400"/>
        </p:xfrm>
        <a:graphic>
          <a:graphicData uri="http://schemas.openxmlformats.org/drawingml/2006/table">
            <a:tbl>
              <a:tblPr/>
              <a:tblGrid>
                <a:gridCol w="1828800"/>
                <a:gridCol w="2606040"/>
                <a:gridCol w="24231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System</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3A46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idea</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3A46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Relation to this project</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3A4654"/>
                    </a:solidFill>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Orca · OSDI '22</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iteration-level scheduling</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context: we model request-level only</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vLLM · SOSP '23</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PagedAttention; FCFS; preempts latest first</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our FCFS baseline</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FastServe · NSDI '26</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token preemption, skip-join MLFQ</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planned (MLFQ, preemption)</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S³ · NeurIPS '23</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learned length → memory packing</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different goal (throughput)</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LTR · NeurIPS '24</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learn to rank lengths ≈ SJF</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consistent with our ranking result</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Clairvoyant · arXiv '26</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predictive SJF, serial backend</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closest setting to ours</a:t>
                      </a:r>
                      <a:endParaRPr lang="en-US" sz="1300" dirty="0">
                        <a:latin typeface="Calibri" charset="0"/>
                        <a:ea typeface="Calibri" charset="0"/>
                        <a:cs typeface="Calibri" charset="0"/>
                      </a:endParaRPr>
                    </a:p>
                  </a:txBody>
                  <a:tcPr marL="54864" marR="54864" marT="54864" marB="54864"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r>
            </a:tbl>
          </a:graphicData>
        </a:graphic>
      </p:graphicFrame>
      <p:sp>
        <p:nvSpPr>
          <p:cNvPr id="18" name="contribution"/>
          <p:cNvSpPr txBox="1"/>
          <p:nvPr/>
        </p:nvSpPr>
        <p:spPr>
          <a:xfrm>
            <a:off x="4754880" y="4800600"/>
            <a:ext cx="6858000" cy="640080"/>
          </a:xfrm>
          <a:prstGeom prst="rect">
            <a:avLst/>
          </a:prstGeom>
          <a:noFill/>
          <a:ln/>
        </p:spPr>
        <p:txBody>
          <a:bodyPr wrap="square" lIns="0" tIns="0" rIns="0" bIns="0" rtlCol="0" anchor="t"/>
          <a:lstStyle/>
          <a:p>
            <a:pPr indent="0" marL="0">
              <a:buNone/>
            </a:pPr>
            <a:r>
              <a:rPr lang="en-US" sz="1500" i="1" dirty="0">
                <a:solidFill>
                  <a:srgbClr val="3A4654"/>
                </a:solidFill>
              </a:rPr>
              <a:t>Contribution: a validated, reproducible evaluation of established policies on LLM-shaped workloads, not a new algorithm.</a:t>
            </a:r>
            <a:endParaRPr lang="en-US" sz="1500" dirty="0"/>
          </a:p>
        </p:txBody>
      </p:sp>
      <p:sp>
        <p:nvSpPr>
          <p:cNvPr id="19" name="citations"/>
          <p:cNvSpPr txBox="1"/>
          <p:nvPr/>
        </p:nvSpPr>
        <p:spPr>
          <a:xfrm>
            <a:off x="4754880" y="5897880"/>
            <a:ext cx="6858000" cy="365760"/>
          </a:xfrm>
          <a:prstGeom prst="rect">
            <a:avLst/>
          </a:prstGeom>
          <a:noFill/>
          <a:ln/>
        </p:spPr>
        <p:txBody>
          <a:bodyPr wrap="square" lIns="0" tIns="0" rIns="0" bIns="0" rtlCol="0" anchor="t"/>
          <a:lstStyle/>
          <a:p>
            <a:pPr indent="0" marL="0">
              <a:buNone/>
            </a:pPr>
            <a:r>
              <a:rPr lang="en-US" sz="1000" dirty="0">
                <a:solidFill>
                  <a:srgbClr val="5B6470"/>
                </a:solidFill>
              </a:rPr>
              <a:t>Yu et al. 2022; Kwon et al. 2023; Wu et al. 2026; Jin et al. 2023; Fu et al. 2024; Sundaresan 2026. Full citations: docs/LITERATURE_REVIEW.md</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System architecture as implemented</a:t>
            </a:r>
            <a:endParaRPr lang="en-US" sz="3000" dirty="0"/>
          </a:p>
        </p:txBody>
      </p:sp>
      <p:sp>
        <p:nvSpPr>
          <p:cNvPr id="4" name="stage 0"/>
          <p:cNvSpPr/>
          <p:nvPr/>
        </p:nvSpPr>
        <p:spPr>
          <a:xfrm>
            <a:off x="548640" y="1600200"/>
            <a:ext cx="1920240" cy="1737360"/>
          </a:xfrm>
          <a:prstGeom prst="roundRect">
            <a:avLst>
              <a:gd name="adj" fmla="val 4211"/>
            </a:avLst>
          </a:prstGeom>
          <a:solidFill>
            <a:srgbClr val="EEF1F5"/>
          </a:solidFill>
          <a:ln w="6350">
            <a:solidFill>
              <a:srgbClr val="EEF1F5"/>
            </a:solidFill>
            <a:prstDash val="solid"/>
          </a:ln>
        </p:spPr>
      </p:sp>
      <p:sp>
        <p:nvSpPr>
          <p:cNvPr id="5" name="stage badge 0"/>
          <p:cNvSpPr/>
          <p:nvPr/>
        </p:nvSpPr>
        <p:spPr>
          <a:xfrm>
            <a:off x="685800" y="1737360"/>
            <a:ext cx="347472" cy="347472"/>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stage head 0"/>
          <p:cNvSpPr txBox="1"/>
          <p:nvPr/>
        </p:nvSpPr>
        <p:spPr>
          <a:xfrm>
            <a:off x="685800" y="2176272"/>
            <a:ext cx="1691640" cy="548640"/>
          </a:xfrm>
          <a:prstGeom prst="rect">
            <a:avLst/>
          </a:prstGeom>
          <a:noFill/>
          <a:ln/>
        </p:spPr>
        <p:txBody>
          <a:bodyPr wrap="square" lIns="0" tIns="0" rIns="0" bIns="0" rtlCol="0" anchor="t"/>
          <a:lstStyle/>
          <a:p>
            <a:pPr indent="0" marL="0">
              <a:buNone/>
            </a:pPr>
            <a:r>
              <a:rPr lang="en-US" sz="1500" b="1" dirty="0">
                <a:solidFill>
                  <a:srgbClr val="1B2430"/>
                </a:solidFill>
              </a:rPr>
              <a:t>Workload generator</a:t>
            </a:r>
            <a:endParaRPr lang="en-US" sz="1500" dirty="0"/>
          </a:p>
        </p:txBody>
      </p:sp>
      <p:sp>
        <p:nvSpPr>
          <p:cNvPr id="7" name="stage body 0"/>
          <p:cNvSpPr txBox="1"/>
          <p:nvPr/>
        </p:nvSpPr>
        <p:spPr>
          <a:xfrm>
            <a:off x="685800" y="2724912"/>
            <a:ext cx="1691640" cy="548640"/>
          </a:xfrm>
          <a:prstGeom prst="rect">
            <a:avLst/>
          </a:prstGeom>
          <a:noFill/>
          <a:ln/>
        </p:spPr>
        <p:txBody>
          <a:bodyPr wrap="square" lIns="0" tIns="0" rIns="0" bIns="0" rtlCol="0" anchor="t"/>
          <a:lstStyle/>
          <a:p>
            <a:pPr indent="0" marL="0">
              <a:buNone/>
            </a:pPr>
            <a:r>
              <a:rPr lang="en-US" sz="1300" dirty="0">
                <a:solidFill>
                  <a:srgbClr val="5B6470"/>
                </a:solidFill>
              </a:rPr>
              <a:t>seeded; 3 task mixes; Poisson arrivals</a:t>
            </a:r>
            <a:endParaRPr lang="en-US" sz="1300" dirty="0"/>
          </a:p>
        </p:txBody>
      </p:sp>
      <p:sp>
        <p:nvSpPr>
          <p:cNvPr id="8" name="arrow 0"/>
          <p:cNvSpPr/>
          <p:nvPr/>
        </p:nvSpPr>
        <p:spPr>
          <a:xfrm>
            <a:off x="2487168" y="2468880"/>
            <a:ext cx="329184" cy="0"/>
          </a:xfrm>
          <a:prstGeom prst="line">
            <a:avLst/>
          </a:prstGeom>
          <a:noFill/>
          <a:ln w="22225">
            <a:solidFill>
              <a:srgbClr val="3A4654"/>
            </a:solidFill>
            <a:prstDash val="solid"/>
            <a:tailEnd type="triangle"/>
          </a:ln>
        </p:spPr>
      </p:sp>
      <p:sp>
        <p:nvSpPr>
          <p:cNvPr id="9" name="stage 1"/>
          <p:cNvSpPr/>
          <p:nvPr/>
        </p:nvSpPr>
        <p:spPr>
          <a:xfrm>
            <a:off x="2834640" y="1600200"/>
            <a:ext cx="1920240" cy="1737360"/>
          </a:xfrm>
          <a:prstGeom prst="roundRect">
            <a:avLst>
              <a:gd name="adj" fmla="val 4211"/>
            </a:avLst>
          </a:prstGeom>
          <a:solidFill>
            <a:srgbClr val="EEF1F5"/>
          </a:solidFill>
          <a:ln w="6350">
            <a:solidFill>
              <a:srgbClr val="EEF1F5"/>
            </a:solidFill>
            <a:prstDash val="solid"/>
          </a:ln>
        </p:spPr>
      </p:sp>
      <p:sp>
        <p:nvSpPr>
          <p:cNvPr id="10" name="stage badge 1"/>
          <p:cNvSpPr/>
          <p:nvPr/>
        </p:nvSpPr>
        <p:spPr>
          <a:xfrm>
            <a:off x="2971800" y="1737360"/>
            <a:ext cx="347472" cy="347472"/>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stage head 1"/>
          <p:cNvSpPr txBox="1"/>
          <p:nvPr/>
        </p:nvSpPr>
        <p:spPr>
          <a:xfrm>
            <a:off x="2971800" y="2176272"/>
            <a:ext cx="1691640" cy="548640"/>
          </a:xfrm>
          <a:prstGeom prst="rect">
            <a:avLst/>
          </a:prstGeom>
          <a:noFill/>
          <a:ln/>
        </p:spPr>
        <p:txBody>
          <a:bodyPr wrap="square" lIns="0" tIns="0" rIns="0" bIns="0" rtlCol="0" anchor="t"/>
          <a:lstStyle/>
          <a:p>
            <a:pPr indent="0" marL="0">
              <a:buNone/>
            </a:pPr>
            <a:r>
              <a:rPr lang="en-US" sz="1500" b="1" dirty="0">
                <a:solidFill>
                  <a:srgbClr val="1B2430"/>
                </a:solidFill>
              </a:rPr>
              <a:t>Length predictor</a:t>
            </a:r>
            <a:endParaRPr lang="en-US" sz="1500" dirty="0"/>
          </a:p>
        </p:txBody>
      </p:sp>
      <p:sp>
        <p:nvSpPr>
          <p:cNvPr id="12" name="stage body 1"/>
          <p:cNvSpPr txBox="1"/>
          <p:nvPr/>
        </p:nvSpPr>
        <p:spPr>
          <a:xfrm>
            <a:off x="2971800" y="2724912"/>
            <a:ext cx="1691640" cy="548640"/>
          </a:xfrm>
          <a:prstGeom prst="rect">
            <a:avLst/>
          </a:prstGeom>
          <a:noFill/>
          <a:ln/>
        </p:spPr>
        <p:txBody>
          <a:bodyPr wrap="square" lIns="0" tIns="0" rIns="0" bIns="0" rtlCol="0" anchor="t"/>
          <a:lstStyle/>
          <a:p>
            <a:pPr indent="0" marL="0">
              <a:buNone/>
            </a:pPr>
            <a:r>
              <a:rPr lang="en-US" sz="1300" dirty="0">
                <a:solidFill>
                  <a:srgbClr val="5B6470"/>
                </a:solidFill>
              </a:rPr>
              <a:t>sees prompt features only</a:t>
            </a:r>
            <a:endParaRPr lang="en-US" sz="1300" dirty="0"/>
          </a:p>
        </p:txBody>
      </p:sp>
      <p:sp>
        <p:nvSpPr>
          <p:cNvPr id="13" name="arrow 1"/>
          <p:cNvSpPr/>
          <p:nvPr/>
        </p:nvSpPr>
        <p:spPr>
          <a:xfrm>
            <a:off x="4773168" y="2468880"/>
            <a:ext cx="329184" cy="0"/>
          </a:xfrm>
          <a:prstGeom prst="line">
            <a:avLst/>
          </a:prstGeom>
          <a:noFill/>
          <a:ln w="22225">
            <a:solidFill>
              <a:srgbClr val="3A4654"/>
            </a:solidFill>
            <a:prstDash val="solid"/>
            <a:tailEnd type="triangle"/>
          </a:ln>
        </p:spPr>
      </p:sp>
      <p:sp>
        <p:nvSpPr>
          <p:cNvPr id="14" name="stage 2"/>
          <p:cNvSpPr/>
          <p:nvPr/>
        </p:nvSpPr>
        <p:spPr>
          <a:xfrm>
            <a:off x="5120640" y="1600200"/>
            <a:ext cx="1920240" cy="1737360"/>
          </a:xfrm>
          <a:prstGeom prst="roundRect">
            <a:avLst>
              <a:gd name="adj" fmla="val 4211"/>
            </a:avLst>
          </a:prstGeom>
          <a:solidFill>
            <a:srgbClr val="FCE3D8"/>
          </a:solidFill>
          <a:ln w="6350">
            <a:solidFill>
              <a:srgbClr val="FCE3D8"/>
            </a:solidFill>
            <a:prstDash val="solid"/>
          </a:ln>
        </p:spPr>
      </p:sp>
      <p:sp>
        <p:nvSpPr>
          <p:cNvPr id="15" name="stage badge 2"/>
          <p:cNvSpPr/>
          <p:nvPr/>
        </p:nvSpPr>
        <p:spPr>
          <a:xfrm>
            <a:off x="5257800" y="1737360"/>
            <a:ext cx="347472" cy="347472"/>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stage head 2"/>
          <p:cNvSpPr txBox="1"/>
          <p:nvPr/>
        </p:nvSpPr>
        <p:spPr>
          <a:xfrm>
            <a:off x="5257800" y="2176272"/>
            <a:ext cx="1691640" cy="548640"/>
          </a:xfrm>
          <a:prstGeom prst="rect">
            <a:avLst/>
          </a:prstGeom>
          <a:noFill/>
          <a:ln/>
        </p:spPr>
        <p:txBody>
          <a:bodyPr wrap="square" lIns="0" tIns="0" rIns="0" bIns="0" rtlCol="0" anchor="t"/>
          <a:lstStyle/>
          <a:p>
            <a:pPr indent="0" marL="0">
              <a:buNone/>
            </a:pPr>
            <a:r>
              <a:rPr lang="en-US" sz="1500" b="1" dirty="0">
                <a:solidFill>
                  <a:srgbClr val="1B2430"/>
                </a:solidFill>
              </a:rPr>
              <a:t>Scheduler policy</a:t>
            </a:r>
            <a:endParaRPr lang="en-US" sz="1500" dirty="0"/>
          </a:p>
        </p:txBody>
      </p:sp>
      <p:sp>
        <p:nvSpPr>
          <p:cNvPr id="17" name="stage body 2"/>
          <p:cNvSpPr txBox="1"/>
          <p:nvPr/>
        </p:nvSpPr>
        <p:spPr>
          <a:xfrm>
            <a:off x="5257800" y="2724912"/>
            <a:ext cx="1691640" cy="548640"/>
          </a:xfrm>
          <a:prstGeom prst="rect">
            <a:avLst/>
          </a:prstGeom>
          <a:noFill/>
          <a:ln/>
        </p:spPr>
        <p:txBody>
          <a:bodyPr wrap="square" lIns="0" tIns="0" rIns="0" bIns="0" rtlCol="0" anchor="t"/>
          <a:lstStyle/>
          <a:p>
            <a:pPr indent="0" marL="0">
              <a:buNone/>
            </a:pPr>
            <a:r>
              <a:rPr lang="en-US" sz="1300" dirty="0">
                <a:solidFill>
                  <a:srgbClr val="5B6470"/>
                </a:solidFill>
              </a:rPr>
              <a:t>FCFS · SJF · aging</a:t>
            </a:r>
            <a:endParaRPr lang="en-US" sz="1300" dirty="0"/>
          </a:p>
        </p:txBody>
      </p:sp>
      <p:sp>
        <p:nvSpPr>
          <p:cNvPr id="18" name="arrow 2"/>
          <p:cNvSpPr/>
          <p:nvPr/>
        </p:nvSpPr>
        <p:spPr>
          <a:xfrm>
            <a:off x="7059168" y="2468880"/>
            <a:ext cx="329184" cy="0"/>
          </a:xfrm>
          <a:prstGeom prst="line">
            <a:avLst/>
          </a:prstGeom>
          <a:noFill/>
          <a:ln w="22225">
            <a:solidFill>
              <a:srgbClr val="3A4654"/>
            </a:solidFill>
            <a:prstDash val="solid"/>
            <a:tailEnd type="triangle"/>
          </a:ln>
        </p:spPr>
      </p:sp>
      <p:sp>
        <p:nvSpPr>
          <p:cNvPr id="19" name="stage 3"/>
          <p:cNvSpPr/>
          <p:nvPr/>
        </p:nvSpPr>
        <p:spPr>
          <a:xfrm>
            <a:off x="7406640" y="1600200"/>
            <a:ext cx="1920240" cy="1737360"/>
          </a:xfrm>
          <a:prstGeom prst="roundRect">
            <a:avLst>
              <a:gd name="adj" fmla="val 4211"/>
            </a:avLst>
          </a:prstGeom>
          <a:solidFill>
            <a:srgbClr val="EEF1F5"/>
          </a:solidFill>
          <a:ln w="6350">
            <a:solidFill>
              <a:srgbClr val="EEF1F5"/>
            </a:solidFill>
            <a:prstDash val="solid"/>
          </a:ln>
        </p:spPr>
      </p:sp>
      <p:sp>
        <p:nvSpPr>
          <p:cNvPr id="20" name="stage badge 3"/>
          <p:cNvSpPr/>
          <p:nvPr/>
        </p:nvSpPr>
        <p:spPr>
          <a:xfrm>
            <a:off x="7543800" y="1737360"/>
            <a:ext cx="347472" cy="347472"/>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stage head 3"/>
          <p:cNvSpPr txBox="1"/>
          <p:nvPr/>
        </p:nvSpPr>
        <p:spPr>
          <a:xfrm>
            <a:off x="7543800" y="2176272"/>
            <a:ext cx="1691640" cy="548640"/>
          </a:xfrm>
          <a:prstGeom prst="rect">
            <a:avLst/>
          </a:prstGeom>
          <a:noFill/>
          <a:ln/>
        </p:spPr>
        <p:txBody>
          <a:bodyPr wrap="square" lIns="0" tIns="0" rIns="0" bIns="0" rtlCol="0" anchor="t"/>
          <a:lstStyle/>
          <a:p>
            <a:pPr indent="0" marL="0">
              <a:buNone/>
            </a:pPr>
            <a:r>
              <a:rPr lang="en-US" sz="1500" b="1" dirty="0">
                <a:solidFill>
                  <a:srgbClr val="1B2430"/>
                </a:solidFill>
              </a:rPr>
              <a:t>Execution slot (simulated)</a:t>
            </a:r>
            <a:endParaRPr lang="en-US" sz="1500" dirty="0"/>
          </a:p>
        </p:txBody>
      </p:sp>
      <p:sp>
        <p:nvSpPr>
          <p:cNvPr id="22" name="stage body 3"/>
          <p:cNvSpPr txBox="1"/>
          <p:nvPr/>
        </p:nvSpPr>
        <p:spPr>
          <a:xfrm>
            <a:off x="7543800" y="2724912"/>
            <a:ext cx="1691640" cy="548640"/>
          </a:xfrm>
          <a:prstGeom prst="rect">
            <a:avLst/>
          </a:prstGeom>
          <a:noFill/>
          <a:ln/>
        </p:spPr>
        <p:txBody>
          <a:bodyPr wrap="square" lIns="0" tIns="0" rIns="0" bIns="0" rtlCol="0" anchor="t"/>
          <a:lstStyle/>
          <a:p>
            <a:pPr indent="0" marL="0">
              <a:buNone/>
            </a:pPr>
            <a:r>
              <a:rPr lang="en-US" sz="1300" dirty="0">
                <a:solidFill>
                  <a:srgbClr val="5B6470"/>
                </a:solidFill>
              </a:rPr>
              <a:t>prefill → decode at true length</a:t>
            </a:r>
            <a:endParaRPr lang="en-US" sz="1300" dirty="0"/>
          </a:p>
        </p:txBody>
      </p:sp>
      <p:sp>
        <p:nvSpPr>
          <p:cNvPr id="23" name="arrow 3"/>
          <p:cNvSpPr/>
          <p:nvPr/>
        </p:nvSpPr>
        <p:spPr>
          <a:xfrm>
            <a:off x="9345168" y="2468880"/>
            <a:ext cx="329184" cy="0"/>
          </a:xfrm>
          <a:prstGeom prst="line">
            <a:avLst/>
          </a:prstGeom>
          <a:noFill/>
          <a:ln w="22225">
            <a:solidFill>
              <a:srgbClr val="3A4654"/>
            </a:solidFill>
            <a:prstDash val="solid"/>
            <a:tailEnd type="triangle"/>
          </a:ln>
        </p:spPr>
      </p:sp>
      <p:sp>
        <p:nvSpPr>
          <p:cNvPr id="24" name="stage 4"/>
          <p:cNvSpPr/>
          <p:nvPr/>
        </p:nvSpPr>
        <p:spPr>
          <a:xfrm>
            <a:off x="9692640" y="1600200"/>
            <a:ext cx="1920240" cy="1737360"/>
          </a:xfrm>
          <a:prstGeom prst="roundRect">
            <a:avLst>
              <a:gd name="adj" fmla="val 4211"/>
            </a:avLst>
          </a:prstGeom>
          <a:solidFill>
            <a:srgbClr val="EEF1F5"/>
          </a:solidFill>
          <a:ln w="6350">
            <a:solidFill>
              <a:srgbClr val="EEF1F5"/>
            </a:solidFill>
            <a:prstDash val="solid"/>
          </a:ln>
        </p:spPr>
      </p:sp>
      <p:sp>
        <p:nvSpPr>
          <p:cNvPr id="25" name="stage badge 4"/>
          <p:cNvSpPr/>
          <p:nvPr/>
        </p:nvSpPr>
        <p:spPr>
          <a:xfrm>
            <a:off x="9829800" y="1737360"/>
            <a:ext cx="347472" cy="347472"/>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stage head 4"/>
          <p:cNvSpPr txBox="1"/>
          <p:nvPr/>
        </p:nvSpPr>
        <p:spPr>
          <a:xfrm>
            <a:off x="9829800" y="2176272"/>
            <a:ext cx="1691640" cy="548640"/>
          </a:xfrm>
          <a:prstGeom prst="rect">
            <a:avLst/>
          </a:prstGeom>
          <a:noFill/>
          <a:ln/>
        </p:spPr>
        <p:txBody>
          <a:bodyPr wrap="square" lIns="0" tIns="0" rIns="0" bIns="0" rtlCol="0" anchor="t"/>
          <a:lstStyle/>
          <a:p>
            <a:pPr indent="0" marL="0">
              <a:buNone/>
            </a:pPr>
            <a:r>
              <a:rPr lang="en-US" sz="1500" b="1" dirty="0">
                <a:solidFill>
                  <a:srgbClr val="1B2430"/>
                </a:solidFill>
              </a:rPr>
              <a:t>Metrics &amp; analysis</a:t>
            </a:r>
            <a:endParaRPr lang="en-US" sz="1500" dirty="0"/>
          </a:p>
        </p:txBody>
      </p:sp>
      <p:sp>
        <p:nvSpPr>
          <p:cNvPr id="27" name="stage body 4"/>
          <p:cNvSpPr txBox="1"/>
          <p:nvPr/>
        </p:nvSpPr>
        <p:spPr>
          <a:xfrm>
            <a:off x="9829800" y="2724912"/>
            <a:ext cx="1691640" cy="548640"/>
          </a:xfrm>
          <a:prstGeom prst="rect">
            <a:avLst/>
          </a:prstGeom>
          <a:noFill/>
          <a:ln/>
        </p:spPr>
        <p:txBody>
          <a:bodyPr wrap="square" lIns="0" tIns="0" rIns="0" bIns="0" rtlCol="0" anchor="t"/>
          <a:lstStyle/>
          <a:p>
            <a:pPr indent="0" marL="0">
              <a:buNone/>
            </a:pPr>
            <a:r>
              <a:rPr lang="en-US" sz="1300" dirty="0">
                <a:solidFill>
                  <a:srgbClr val="5B6470"/>
                </a:solidFill>
              </a:rPr>
              <a:t>TTFT, JCT, fairness, CIs</a:t>
            </a:r>
            <a:endParaRPr lang="en-US" sz="1300" dirty="0"/>
          </a:p>
        </p:txBody>
      </p:sp>
      <p:sp>
        <p:nvSpPr>
          <p:cNvPr id="28" name="planned head"/>
          <p:cNvSpPr txBox="1"/>
          <p:nvPr/>
        </p:nvSpPr>
        <p:spPr>
          <a:xfrm>
            <a:off x="5120640" y="3703320"/>
            <a:ext cx="6400800" cy="320040"/>
          </a:xfrm>
          <a:prstGeom prst="rect">
            <a:avLst/>
          </a:prstGeom>
          <a:noFill/>
          <a:ln/>
        </p:spPr>
        <p:txBody>
          <a:bodyPr wrap="square" lIns="0" tIns="0" rIns="0" bIns="0" rtlCol="0" anchor="t"/>
          <a:lstStyle/>
          <a:p>
            <a:pPr indent="0" marL="0">
              <a:buNone/>
            </a:pPr>
            <a:r>
              <a:rPr lang="en-US" sz="1400" b="1" dirty="0">
                <a:solidFill>
                  <a:srgbClr val="8A93A0"/>
                </a:solidFill>
              </a:rPr>
              <a:t>Planned, not implemented</a:t>
            </a:r>
            <a:endParaRPr lang="en-US" sz="1400" dirty="0"/>
          </a:p>
        </p:txBody>
      </p:sp>
      <p:sp>
        <p:nvSpPr>
          <p:cNvPr id="29" name="planned 0"/>
          <p:cNvSpPr/>
          <p:nvPr/>
        </p:nvSpPr>
        <p:spPr>
          <a:xfrm>
            <a:off x="5120640" y="4069080"/>
            <a:ext cx="1508760" cy="868680"/>
          </a:xfrm>
          <a:prstGeom prst="roundRect">
            <a:avLst>
              <a:gd name="adj" fmla="val 8421"/>
            </a:avLst>
          </a:prstGeom>
          <a:solidFill>
            <a:srgbClr val="FFFFFF"/>
          </a:solidFill>
          <a:ln w="15875">
            <a:solidFill>
              <a:srgbClr val="8A93A0"/>
            </a:solidFill>
            <a:prstDash val="dash"/>
          </a:ln>
        </p:spPr>
      </p:sp>
      <p:sp>
        <p:nvSpPr>
          <p:cNvPr id="30" name="planned text 0"/>
          <p:cNvSpPr txBox="1"/>
          <p:nvPr/>
        </p:nvSpPr>
        <p:spPr>
          <a:xfrm>
            <a:off x="5212080" y="4114800"/>
            <a:ext cx="1325880" cy="777240"/>
          </a:xfrm>
          <a:prstGeom prst="rect">
            <a:avLst/>
          </a:prstGeom>
          <a:noFill/>
          <a:ln/>
        </p:spPr>
        <p:txBody>
          <a:bodyPr wrap="square" lIns="0" tIns="0" rIns="0" bIns="0" rtlCol="0" anchor="ctr"/>
          <a:lstStyle/>
          <a:p>
            <a:pPr algn="ctr" indent="0" marL="0">
              <a:buNone/>
            </a:pPr>
            <a:r>
              <a:rPr lang="en-US" sz="1300" dirty="0">
                <a:solidFill>
                  <a:srgbClr val="8A93A0"/>
                </a:solidFill>
              </a:rPr>
              <a:t>MLFQ + priority boost</a:t>
            </a:r>
            <a:endParaRPr lang="en-US" sz="1300" dirty="0"/>
          </a:p>
        </p:txBody>
      </p:sp>
      <p:sp>
        <p:nvSpPr>
          <p:cNvPr id="31" name="planned 1"/>
          <p:cNvSpPr/>
          <p:nvPr/>
        </p:nvSpPr>
        <p:spPr>
          <a:xfrm>
            <a:off x="6766560" y="4069080"/>
            <a:ext cx="1508760" cy="868680"/>
          </a:xfrm>
          <a:prstGeom prst="roundRect">
            <a:avLst>
              <a:gd name="adj" fmla="val 8421"/>
            </a:avLst>
          </a:prstGeom>
          <a:solidFill>
            <a:srgbClr val="FFFFFF"/>
          </a:solidFill>
          <a:ln w="15875">
            <a:solidFill>
              <a:srgbClr val="8A93A0"/>
            </a:solidFill>
            <a:prstDash val="dash"/>
          </a:ln>
        </p:spPr>
      </p:sp>
      <p:sp>
        <p:nvSpPr>
          <p:cNvPr id="32" name="planned text 1"/>
          <p:cNvSpPr txBox="1"/>
          <p:nvPr/>
        </p:nvSpPr>
        <p:spPr>
          <a:xfrm>
            <a:off x="6858000" y="4114800"/>
            <a:ext cx="1325880" cy="777240"/>
          </a:xfrm>
          <a:prstGeom prst="rect">
            <a:avLst/>
          </a:prstGeom>
          <a:noFill/>
          <a:ln/>
        </p:spPr>
        <p:txBody>
          <a:bodyPr wrap="square" lIns="0" tIns="0" rIns="0" bIns="0" rtlCol="0" anchor="ctr"/>
          <a:lstStyle/>
          <a:p>
            <a:pPr algn="ctr" indent="0" marL="0">
              <a:buNone/>
            </a:pPr>
            <a:r>
              <a:rPr lang="en-US" sz="1300" dirty="0">
                <a:solidFill>
                  <a:srgbClr val="8A93A0"/>
                </a:solidFill>
              </a:rPr>
              <a:t>Preemption: recompute / swap</a:t>
            </a:r>
            <a:endParaRPr lang="en-US" sz="1300" dirty="0"/>
          </a:p>
        </p:txBody>
      </p:sp>
      <p:sp>
        <p:nvSpPr>
          <p:cNvPr id="33" name="planned 2"/>
          <p:cNvSpPr/>
          <p:nvPr/>
        </p:nvSpPr>
        <p:spPr>
          <a:xfrm>
            <a:off x="8412480" y="4069080"/>
            <a:ext cx="1508760" cy="868680"/>
          </a:xfrm>
          <a:prstGeom prst="roundRect">
            <a:avLst>
              <a:gd name="adj" fmla="val 8421"/>
            </a:avLst>
          </a:prstGeom>
          <a:solidFill>
            <a:srgbClr val="FFFFFF"/>
          </a:solidFill>
          <a:ln w="15875">
            <a:solidFill>
              <a:srgbClr val="8A93A0"/>
            </a:solidFill>
            <a:prstDash val="dash"/>
          </a:ln>
        </p:spPr>
      </p:sp>
      <p:sp>
        <p:nvSpPr>
          <p:cNvPr id="34" name="planned text 2"/>
          <p:cNvSpPr txBox="1"/>
          <p:nvPr/>
        </p:nvSpPr>
        <p:spPr>
          <a:xfrm>
            <a:off x="8503920" y="4114800"/>
            <a:ext cx="1325880" cy="777240"/>
          </a:xfrm>
          <a:prstGeom prst="rect">
            <a:avLst/>
          </a:prstGeom>
          <a:noFill/>
          <a:ln/>
        </p:spPr>
        <p:txBody>
          <a:bodyPr wrap="square" lIns="0" tIns="0" rIns="0" bIns="0" rtlCol="0" anchor="ctr"/>
          <a:lstStyle/>
          <a:p>
            <a:pPr algn="ctr" indent="0" marL="0">
              <a:buNone/>
            </a:pPr>
            <a:r>
              <a:rPr lang="en-US" sz="1300" dirty="0">
                <a:solidFill>
                  <a:srgbClr val="8A93A0"/>
                </a:solidFill>
              </a:rPr>
              <a:t>KV-cache &amp; batching</a:t>
            </a:r>
            <a:endParaRPr lang="en-US" sz="1300" dirty="0"/>
          </a:p>
        </p:txBody>
      </p:sp>
      <p:sp>
        <p:nvSpPr>
          <p:cNvPr id="35" name="planned 3"/>
          <p:cNvSpPr/>
          <p:nvPr/>
        </p:nvSpPr>
        <p:spPr>
          <a:xfrm>
            <a:off x="10058400" y="4069080"/>
            <a:ext cx="1508760" cy="868680"/>
          </a:xfrm>
          <a:prstGeom prst="roundRect">
            <a:avLst>
              <a:gd name="adj" fmla="val 8421"/>
            </a:avLst>
          </a:prstGeom>
          <a:solidFill>
            <a:srgbClr val="FFFFFF"/>
          </a:solidFill>
          <a:ln w="15875">
            <a:solidFill>
              <a:srgbClr val="8A93A0"/>
            </a:solidFill>
            <a:prstDash val="dash"/>
          </a:ln>
        </p:spPr>
      </p:sp>
      <p:sp>
        <p:nvSpPr>
          <p:cNvPr id="36" name="planned text 3"/>
          <p:cNvSpPr txBox="1"/>
          <p:nvPr/>
        </p:nvSpPr>
        <p:spPr>
          <a:xfrm>
            <a:off x="10149840" y="4114800"/>
            <a:ext cx="1325880" cy="777240"/>
          </a:xfrm>
          <a:prstGeom prst="rect">
            <a:avLst/>
          </a:prstGeom>
          <a:noFill/>
          <a:ln/>
        </p:spPr>
        <p:txBody>
          <a:bodyPr wrap="square" lIns="0" tIns="0" rIns="0" bIns="0" rtlCol="0" anchor="ctr"/>
          <a:lstStyle/>
          <a:p>
            <a:pPr algn="ctr" indent="0" marL="0">
              <a:buNone/>
            </a:pPr>
            <a:r>
              <a:rPr lang="en-US" sz="1300" dirty="0">
                <a:solidFill>
                  <a:srgbClr val="8A93A0"/>
                </a:solidFill>
              </a:rPr>
              <a:t>vLLM / GPU backend</a:t>
            </a:r>
            <a:endParaRPr lang="en-US" sz="1300" dirty="0"/>
          </a:p>
        </p:txBody>
      </p:sp>
      <p:sp>
        <p:nvSpPr>
          <p:cNvPr id="37" name="pairing card"/>
          <p:cNvSpPr/>
          <p:nvPr/>
        </p:nvSpPr>
        <p:spPr>
          <a:xfrm>
            <a:off x="548640" y="5257800"/>
            <a:ext cx="11064240" cy="777240"/>
          </a:xfrm>
          <a:prstGeom prst="roundRect">
            <a:avLst>
              <a:gd name="adj" fmla="val 9412"/>
            </a:avLst>
          </a:prstGeom>
          <a:solidFill>
            <a:srgbClr val="EEF1F5"/>
          </a:solidFill>
          <a:ln w="6350">
            <a:solidFill>
              <a:srgbClr val="EEF1F5"/>
            </a:solidFill>
            <a:prstDash val="solid"/>
          </a:ln>
        </p:spPr>
      </p:sp>
      <p:sp>
        <p:nvSpPr>
          <p:cNvPr id="38" name="pairing badge"/>
          <p:cNvSpPr/>
          <p:nvPr/>
        </p:nvSpPr>
        <p:spPr>
          <a:xfrm>
            <a:off x="731520" y="5449824"/>
            <a:ext cx="384048" cy="384048"/>
          </a:xfrm>
          <a:prstGeom prst="ellipse">
            <a:avLst/>
          </a:prstGeom>
          <a:solidFill>
            <a:srgbClr val="2A78D6"/>
          </a:solidFill>
          <a:ln>
            <a:solidFill>
              <a:srgbClr val="2A78D6"/>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39" name="pairing text"/>
          <p:cNvSpPr txBox="1"/>
          <p:nvPr/>
        </p:nvSpPr>
        <p:spPr>
          <a:xfrm>
            <a:off x="1280160" y="5349240"/>
            <a:ext cx="10149840" cy="594360"/>
          </a:xfrm>
          <a:prstGeom prst="rect">
            <a:avLst/>
          </a:prstGeom>
          <a:noFill/>
          <a:ln/>
        </p:spPr>
        <p:txBody>
          <a:bodyPr wrap="square" lIns="0" tIns="0" rIns="0" bIns="0" rtlCol="0" anchor="ctr"/>
          <a:lstStyle/>
          <a:p>
            <a:pPr indent="0" marL="0">
              <a:buNone/>
            </a:pPr>
            <a:r>
              <a:rPr lang="en-US" sz="1500" dirty="0">
                <a:solidFill>
                  <a:srgbClr val="1B2430"/>
                </a:solidFill>
              </a:rPr>
              <a:t>One immutable workload per seed is replayed under every policy, so differences come only from the scheduling decision</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Implementation status: what is built and tested</a:t>
            </a:r>
            <a:endParaRPr lang="en-US" sz="3000" dirty="0"/>
          </a:p>
        </p:txBody>
      </p:sp>
      <p:sp>
        <p:nvSpPr>
          <p:cNvPr id="4" name="built head"/>
          <p:cNvSpPr txBox="1"/>
          <p:nvPr/>
        </p:nvSpPr>
        <p:spPr>
          <a:xfrm>
            <a:off x="548640" y="1325880"/>
            <a:ext cx="5852160" cy="365760"/>
          </a:xfrm>
          <a:prstGeom prst="rect">
            <a:avLst/>
          </a:prstGeom>
          <a:noFill/>
          <a:ln/>
        </p:spPr>
        <p:txBody>
          <a:bodyPr wrap="square" lIns="0" tIns="0" rIns="0" bIns="0" rtlCol="0" anchor="t"/>
          <a:lstStyle/>
          <a:p>
            <a:pPr indent="0" marL="0">
              <a:buNone/>
            </a:pPr>
            <a:r>
              <a:rPr lang="en-US" sz="1700" b="1" dirty="0">
                <a:solidFill>
                  <a:srgbClr val="1B2430"/>
                </a:solidFill>
              </a:rPr>
              <a:t>Built and tested · 9 of 18 synopsis components, 1 partial</a:t>
            </a:r>
            <a:endParaRPr lang="en-US" sz="1700" dirty="0"/>
          </a:p>
        </p:txBody>
      </p:sp>
      <p:sp>
        <p:nvSpPr>
          <p:cNvPr id="5" name="check 0"/>
          <p:cNvSpPr/>
          <p:nvPr/>
        </p:nvSpPr>
        <p:spPr>
          <a:xfrm>
            <a:off x="548640" y="1828800"/>
            <a:ext cx="329184" cy="329184"/>
          </a:xfrm>
          <a:prstGeom prst="ellipse">
            <a:avLst/>
          </a:prstGeom>
          <a:solidFill>
            <a:srgbClr val="0C8A0C"/>
          </a:solidFill>
          <a:ln>
            <a:solidFill>
              <a:srgbClr val="0C8A0C"/>
            </a:solid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6" name="built 0"/>
          <p:cNvSpPr txBox="1"/>
          <p:nvPr/>
        </p:nvSpPr>
        <p:spPr>
          <a:xfrm>
            <a:off x="1005840" y="1847088"/>
            <a:ext cx="5394960" cy="329184"/>
          </a:xfrm>
          <a:prstGeom prst="rect">
            <a:avLst/>
          </a:prstGeom>
          <a:noFill/>
          <a:ln/>
        </p:spPr>
        <p:txBody>
          <a:bodyPr wrap="square" lIns="0" tIns="0" rIns="0" bIns="0" rtlCol="0" anchor="ctr"/>
          <a:lstStyle/>
          <a:p>
            <a:pPr indent="0" marL="0">
              <a:buNone/>
            </a:pPr>
            <a:r>
              <a:rPr lang="en-US" sz="1500" dirty="0">
                <a:solidFill>
                  <a:srgbClr val="1B2430"/>
                </a:solidFill>
              </a:rPr>
              <a:t>Request model with enforced state machine</a:t>
            </a:r>
            <a:endParaRPr lang="en-US" sz="1500" dirty="0"/>
          </a:p>
        </p:txBody>
      </p:sp>
      <p:sp>
        <p:nvSpPr>
          <p:cNvPr id="7" name="check 1"/>
          <p:cNvSpPr/>
          <p:nvPr/>
        </p:nvSpPr>
        <p:spPr>
          <a:xfrm>
            <a:off x="548640" y="2377440"/>
            <a:ext cx="329184" cy="329184"/>
          </a:xfrm>
          <a:prstGeom prst="ellipse">
            <a:avLst/>
          </a:prstGeom>
          <a:solidFill>
            <a:srgbClr val="0C8A0C"/>
          </a:solidFill>
          <a:ln>
            <a:solidFill>
              <a:srgbClr val="0C8A0C"/>
            </a:solid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8" name="built 1"/>
          <p:cNvSpPr txBox="1"/>
          <p:nvPr/>
        </p:nvSpPr>
        <p:spPr>
          <a:xfrm>
            <a:off x="1005840" y="2395728"/>
            <a:ext cx="5394960" cy="329184"/>
          </a:xfrm>
          <a:prstGeom prst="rect">
            <a:avLst/>
          </a:prstGeom>
          <a:noFill/>
          <a:ln/>
        </p:spPr>
        <p:txBody>
          <a:bodyPr wrap="square" lIns="0" tIns="0" rIns="0" bIns="0" rtlCol="0" anchor="ctr"/>
          <a:lstStyle/>
          <a:p>
            <a:pPr indent="0" marL="0">
              <a:buNone/>
            </a:pPr>
            <a:r>
              <a:rPr lang="en-US" sz="1500" dirty="0">
                <a:solidFill>
                  <a:srgbClr val="1B2430"/>
                </a:solidFill>
              </a:rPr>
              <a:t>Seeded workloads: short-heavy, mixed, long-heavy</a:t>
            </a:r>
            <a:endParaRPr lang="en-US" sz="1500" dirty="0"/>
          </a:p>
        </p:txBody>
      </p:sp>
      <p:sp>
        <p:nvSpPr>
          <p:cNvPr id="9" name="check 2"/>
          <p:cNvSpPr/>
          <p:nvPr/>
        </p:nvSpPr>
        <p:spPr>
          <a:xfrm>
            <a:off x="548640" y="2926080"/>
            <a:ext cx="329184" cy="329184"/>
          </a:xfrm>
          <a:prstGeom prst="ellipse">
            <a:avLst/>
          </a:prstGeom>
          <a:solidFill>
            <a:srgbClr val="0C8A0C"/>
          </a:solidFill>
          <a:ln>
            <a:solidFill>
              <a:srgbClr val="0C8A0C"/>
            </a:solid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0" name="built 2"/>
          <p:cNvSpPr txBox="1"/>
          <p:nvPr/>
        </p:nvSpPr>
        <p:spPr>
          <a:xfrm>
            <a:off x="1005840" y="2944368"/>
            <a:ext cx="5394960" cy="329184"/>
          </a:xfrm>
          <a:prstGeom prst="rect">
            <a:avLst/>
          </a:prstGeom>
          <a:noFill/>
          <a:ln/>
        </p:spPr>
        <p:txBody>
          <a:bodyPr wrap="square" lIns="0" tIns="0" rIns="0" bIns="0" rtlCol="0" anchor="ctr"/>
          <a:lstStyle/>
          <a:p>
            <a:pPr indent="0" marL="0">
              <a:buNone/>
            </a:pPr>
            <a:r>
              <a:rPr lang="en-US" sz="1500" dirty="0">
                <a:solidFill>
                  <a:srgbClr val="1B2430"/>
                </a:solidFill>
              </a:rPr>
              <a:t>Heuristic predictor + labelled oracle references</a:t>
            </a:r>
            <a:endParaRPr lang="en-US" sz="1500" dirty="0"/>
          </a:p>
        </p:txBody>
      </p:sp>
      <p:sp>
        <p:nvSpPr>
          <p:cNvPr id="11" name="check 3"/>
          <p:cNvSpPr/>
          <p:nvPr/>
        </p:nvSpPr>
        <p:spPr>
          <a:xfrm>
            <a:off x="548640" y="3474720"/>
            <a:ext cx="329184" cy="329184"/>
          </a:xfrm>
          <a:prstGeom prst="ellipse">
            <a:avLst/>
          </a:prstGeom>
          <a:solidFill>
            <a:srgbClr val="0C8A0C"/>
          </a:solidFill>
          <a:ln>
            <a:solidFill>
              <a:srgbClr val="0C8A0C"/>
            </a:solid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2" name="built 3"/>
          <p:cNvSpPr txBox="1"/>
          <p:nvPr/>
        </p:nvSpPr>
        <p:spPr>
          <a:xfrm>
            <a:off x="1005840" y="3493008"/>
            <a:ext cx="5394960" cy="329184"/>
          </a:xfrm>
          <a:prstGeom prst="rect">
            <a:avLst/>
          </a:prstGeom>
          <a:noFill/>
          <a:ln/>
        </p:spPr>
        <p:txBody>
          <a:bodyPr wrap="square" lIns="0" tIns="0" rIns="0" bIns="0" rtlCol="0" anchor="ctr"/>
          <a:lstStyle/>
          <a:p>
            <a:pPr indent="0" marL="0">
              <a:buNone/>
            </a:pPr>
            <a:r>
              <a:rPr lang="en-US" sz="1500" dirty="0">
                <a:solidFill>
                  <a:srgbClr val="1B2430"/>
                </a:solidFill>
              </a:rPr>
              <a:t>FCFS and non-preemptive predictive SJF</a:t>
            </a:r>
            <a:endParaRPr lang="en-US" sz="1500" dirty="0"/>
          </a:p>
        </p:txBody>
      </p:sp>
      <p:sp>
        <p:nvSpPr>
          <p:cNvPr id="13" name="check 4"/>
          <p:cNvSpPr/>
          <p:nvPr/>
        </p:nvSpPr>
        <p:spPr>
          <a:xfrm>
            <a:off x="548640" y="4023360"/>
            <a:ext cx="329184" cy="329184"/>
          </a:xfrm>
          <a:prstGeom prst="ellipse">
            <a:avLst/>
          </a:prstGeom>
          <a:solidFill>
            <a:srgbClr val="0C8A0C"/>
          </a:solidFill>
          <a:ln>
            <a:solidFill>
              <a:srgbClr val="0C8A0C"/>
            </a:solid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4" name="built 4"/>
          <p:cNvSpPr txBox="1"/>
          <p:nvPr/>
        </p:nvSpPr>
        <p:spPr>
          <a:xfrm>
            <a:off x="1005840" y="4041648"/>
            <a:ext cx="5394960" cy="329184"/>
          </a:xfrm>
          <a:prstGeom prst="rect">
            <a:avLst/>
          </a:prstGeom>
          <a:noFill/>
          <a:ln/>
        </p:spPr>
        <p:txBody>
          <a:bodyPr wrap="square" lIns="0" tIns="0" rIns="0" bIns="0" rtlCol="0" anchor="ctr"/>
          <a:lstStyle/>
          <a:p>
            <a:pPr indent="0" marL="0">
              <a:buNone/>
            </a:pPr>
            <a:r>
              <a:rPr lang="en-US" sz="1500" dirty="0">
                <a:solidFill>
                  <a:srgbClr val="1B2430"/>
                </a:solidFill>
              </a:rPr>
              <a:t>Discrete-event single-slot simulator</a:t>
            </a:r>
            <a:endParaRPr lang="en-US" sz="1500" dirty="0"/>
          </a:p>
        </p:txBody>
      </p:sp>
      <p:sp>
        <p:nvSpPr>
          <p:cNvPr id="15" name="check 5"/>
          <p:cNvSpPr/>
          <p:nvPr/>
        </p:nvSpPr>
        <p:spPr>
          <a:xfrm>
            <a:off x="548640" y="4572000"/>
            <a:ext cx="329184" cy="329184"/>
          </a:xfrm>
          <a:prstGeom prst="ellipse">
            <a:avLst/>
          </a:prstGeom>
          <a:solidFill>
            <a:srgbClr val="0C8A0C"/>
          </a:solidFill>
          <a:ln>
            <a:solidFill>
              <a:srgbClr val="0C8A0C"/>
            </a:solid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6" name="built 5"/>
          <p:cNvSpPr txBox="1"/>
          <p:nvPr/>
        </p:nvSpPr>
        <p:spPr>
          <a:xfrm>
            <a:off x="1005840" y="4590288"/>
            <a:ext cx="5394960" cy="329184"/>
          </a:xfrm>
          <a:prstGeom prst="rect">
            <a:avLst/>
          </a:prstGeom>
          <a:noFill/>
          <a:ln/>
        </p:spPr>
        <p:txBody>
          <a:bodyPr wrap="square" lIns="0" tIns="0" rIns="0" bIns="0" rtlCol="0" anchor="ctr"/>
          <a:lstStyle/>
          <a:p>
            <a:pPr indent="0" marL="0">
              <a:buNone/>
            </a:pPr>
            <a:r>
              <a:rPr lang="en-US" sz="1500" dirty="0">
                <a:solidFill>
                  <a:srgbClr val="1B2430"/>
                </a:solidFill>
              </a:rPr>
              <a:t>Metrics, paired runner, analysis, figures</a:t>
            </a:r>
            <a:endParaRPr lang="en-US" sz="1500" dirty="0"/>
          </a:p>
        </p:txBody>
      </p:sp>
      <p:sp>
        <p:nvSpPr>
          <p:cNvPr id="17" name="check 6"/>
          <p:cNvSpPr/>
          <p:nvPr/>
        </p:nvSpPr>
        <p:spPr>
          <a:xfrm>
            <a:off x="548640" y="5120640"/>
            <a:ext cx="329184" cy="329184"/>
          </a:xfrm>
          <a:prstGeom prst="ellipse">
            <a:avLst/>
          </a:prstGeom>
          <a:solidFill>
            <a:srgbClr val="8A93A0"/>
          </a:solidFill>
          <a:ln>
            <a:solidFill>
              <a:srgbClr val="8A93A0"/>
            </a:solid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8" name="built 6"/>
          <p:cNvSpPr txBox="1"/>
          <p:nvPr/>
        </p:nvSpPr>
        <p:spPr>
          <a:xfrm>
            <a:off x="1005840" y="5138928"/>
            <a:ext cx="5394960" cy="329184"/>
          </a:xfrm>
          <a:prstGeom prst="rect">
            <a:avLst/>
          </a:prstGeom>
          <a:noFill/>
          <a:ln/>
        </p:spPr>
        <p:txBody>
          <a:bodyPr wrap="square" lIns="0" tIns="0" rIns="0" bIns="0" rtlCol="0" anchor="ctr"/>
          <a:lstStyle/>
          <a:p>
            <a:pPr indent="0" marL="0">
              <a:buNone/>
            </a:pPr>
            <a:r>
              <a:rPr lang="en-US" sz="1500" dirty="0">
                <a:solidFill>
                  <a:srgbClr val="1B2430"/>
                </a:solidFill>
              </a:rPr>
              <a:t>Extension: linear aging (partial)</a:t>
            </a:r>
            <a:endParaRPr lang="en-US" sz="1500" dirty="0"/>
          </a:p>
        </p:txBody>
      </p:sp>
      <p:sp>
        <p:nvSpPr>
          <p:cNvPr id="19" name="planned card"/>
          <p:cNvSpPr/>
          <p:nvPr/>
        </p:nvSpPr>
        <p:spPr>
          <a:xfrm>
            <a:off x="6675120" y="1325880"/>
            <a:ext cx="4937760" cy="2057400"/>
          </a:xfrm>
          <a:prstGeom prst="roundRect">
            <a:avLst>
              <a:gd name="adj" fmla="val 3556"/>
            </a:avLst>
          </a:prstGeom>
          <a:solidFill>
            <a:srgbClr val="FFFFFF"/>
          </a:solidFill>
          <a:ln w="15875">
            <a:solidFill>
              <a:srgbClr val="8A93A0"/>
            </a:solidFill>
            <a:prstDash val="dash"/>
          </a:ln>
        </p:spPr>
      </p:sp>
      <p:sp>
        <p:nvSpPr>
          <p:cNvPr id="20" name="planned head"/>
          <p:cNvSpPr txBox="1"/>
          <p:nvPr/>
        </p:nvSpPr>
        <p:spPr>
          <a:xfrm>
            <a:off x="6858000" y="1417320"/>
            <a:ext cx="4572000" cy="329184"/>
          </a:xfrm>
          <a:prstGeom prst="rect">
            <a:avLst/>
          </a:prstGeom>
          <a:noFill/>
          <a:ln/>
        </p:spPr>
        <p:txBody>
          <a:bodyPr wrap="square" lIns="0" tIns="0" rIns="0" bIns="0" rtlCol="0" anchor="t"/>
          <a:lstStyle/>
          <a:p>
            <a:pPr indent="0" marL="0">
              <a:buNone/>
            </a:pPr>
            <a:r>
              <a:rPr lang="en-US" sz="1600" b="1" dirty="0">
                <a:solidFill>
                  <a:srgbClr val="8A93A0"/>
                </a:solidFill>
              </a:rPr>
              <a:t>Planned</a:t>
            </a:r>
            <a:endParaRPr lang="en-US" sz="1600" dirty="0"/>
          </a:p>
        </p:txBody>
      </p:sp>
      <p:sp>
        <p:nvSpPr>
          <p:cNvPr id="21" name="planned list"/>
          <p:cNvSpPr txBox="1"/>
          <p:nvPr/>
        </p:nvSpPr>
        <p:spPr>
          <a:xfrm>
            <a:off x="6858000" y="1783080"/>
            <a:ext cx="4572000" cy="731520"/>
          </a:xfrm>
          <a:prstGeom prst="rect">
            <a:avLst/>
          </a:prstGeom>
          <a:noFill/>
          <a:ln/>
        </p:spPr>
        <p:txBody>
          <a:bodyPr wrap="square" lIns="0" tIns="0" rIns="0" bIns="0" rtlCol="0" anchor="t"/>
          <a:lstStyle/>
          <a:p>
            <a:pPr indent="0" marL="0">
              <a:buNone/>
            </a:pPr>
            <a:r>
              <a:rPr lang="en-US" sz="1400" dirty="0">
                <a:solidFill>
                  <a:srgbClr val="5B6470"/>
                </a:solidFill>
              </a:rPr>
              <a:t>MLFQ · recompute and swap preemption · KV-cache and batching · learned predictor · priority classes</a:t>
            </a:r>
            <a:endParaRPr lang="en-US" sz="1400" dirty="0"/>
          </a:p>
        </p:txBody>
      </p:sp>
      <p:sp>
        <p:nvSpPr>
          <p:cNvPr id="22" name="blocked"/>
          <p:cNvSpPr txBox="1"/>
          <p:nvPr/>
        </p:nvSpPr>
        <p:spPr>
          <a:xfrm>
            <a:off x="6858000" y="2606040"/>
            <a:ext cx="4572000" cy="640080"/>
          </a:xfrm>
          <a:prstGeom prst="rect">
            <a:avLst/>
          </a:prstGeom>
          <a:noFill/>
          <a:ln/>
        </p:spPr>
        <p:txBody>
          <a:bodyPr wrap="square" lIns="0" tIns="0" rIns="0" bIns="0" rtlCol="0" anchor="t"/>
          <a:lstStyle/>
          <a:p>
            <a:pPr indent="0" marL="0">
              <a:buNone/>
            </a:pPr>
            <a:r>
              <a:rPr lang="en-US" sz="1400" dirty="0">
                <a:solidFill>
                  <a:srgbClr val="5B6470"/>
                </a:solidFill>
              </a:rPr>
              <a:t>Blocked: vLLM / GPU runs (no vLLM, WSL or Docker; 4 GB GPU)</a:t>
            </a:r>
            <a:endParaRPr lang="en-US" sz="1400" dirty="0"/>
          </a:p>
        </p:txBody>
      </p:sp>
      <p:sp>
        <p:nvSpPr>
          <p:cNvPr id="23" name="evidence card"/>
          <p:cNvSpPr/>
          <p:nvPr/>
        </p:nvSpPr>
        <p:spPr>
          <a:xfrm>
            <a:off x="6675120" y="3566160"/>
            <a:ext cx="4937760" cy="2514600"/>
          </a:xfrm>
          <a:prstGeom prst="roundRect">
            <a:avLst>
              <a:gd name="adj" fmla="val 2909"/>
            </a:avLst>
          </a:prstGeom>
          <a:solidFill>
            <a:srgbClr val="EEF1F5"/>
          </a:solidFill>
          <a:ln w="6350">
            <a:solidFill>
              <a:srgbClr val="EEF1F5"/>
            </a:solidFill>
            <a:prstDash val="solid"/>
          </a:ln>
        </p:spPr>
      </p:sp>
      <p:sp>
        <p:nvSpPr>
          <p:cNvPr id="24" name="tests value"/>
          <p:cNvSpPr txBox="1"/>
          <p:nvPr/>
        </p:nvSpPr>
        <p:spPr>
          <a:xfrm>
            <a:off x="6858000" y="3657600"/>
            <a:ext cx="4572000" cy="502920"/>
          </a:xfrm>
          <a:prstGeom prst="rect">
            <a:avLst/>
          </a:prstGeom>
          <a:noFill/>
          <a:ln/>
        </p:spPr>
        <p:txBody>
          <a:bodyPr wrap="square" lIns="0" tIns="0" rIns="0" bIns="0" rtlCol="0" anchor="t"/>
          <a:lstStyle/>
          <a:p>
            <a:pPr indent="0" marL="0">
              <a:buNone/>
            </a:pPr>
            <a:r>
              <a:rPr lang="en-US" sz="2600" b="1" dirty="0">
                <a:solidFill>
                  <a:srgbClr val="1B2430"/>
                </a:solidFill>
              </a:rPr>
              <a:t>59 passed</a:t>
            </a:r>
            <a:endParaRPr lang="en-US" sz="2600" dirty="0"/>
          </a:p>
        </p:txBody>
      </p:sp>
      <p:sp>
        <p:nvSpPr>
          <p:cNvPr id="25" name="tests label"/>
          <p:cNvSpPr txBox="1"/>
          <p:nvPr/>
        </p:nvSpPr>
        <p:spPr>
          <a:xfrm>
            <a:off x="6858000" y="4160520"/>
            <a:ext cx="4572000" cy="320040"/>
          </a:xfrm>
          <a:prstGeom prst="rect">
            <a:avLst/>
          </a:prstGeom>
          <a:noFill/>
          <a:ln/>
        </p:spPr>
        <p:txBody>
          <a:bodyPr wrap="square" lIns="0" tIns="0" rIns="0" bIns="0" rtlCol="0" anchor="t"/>
          <a:lstStyle/>
          <a:p>
            <a:pPr indent="0" marL="0">
              <a:buNone/>
            </a:pPr>
            <a:r>
              <a:rPr lang="en-US" sz="1300" dirty="0">
                <a:solidFill>
                  <a:srgbClr val="5B6470"/>
                </a:solidFill>
              </a:rPr>
              <a:t>unit tests (pytest), incl. hand-calculated example</a:t>
            </a:r>
            <a:endParaRPr lang="en-US" sz="1300" dirty="0"/>
          </a:p>
        </p:txBody>
      </p:sp>
      <p:sp>
        <p:nvSpPr>
          <p:cNvPr id="26" name="demo cmd"/>
          <p:cNvSpPr txBox="1"/>
          <p:nvPr/>
        </p:nvSpPr>
        <p:spPr>
          <a:xfrm>
            <a:off x="6858000" y="4617720"/>
            <a:ext cx="4572000" cy="320040"/>
          </a:xfrm>
          <a:prstGeom prst="rect">
            <a:avLst/>
          </a:prstGeom>
          <a:noFill/>
          <a:ln/>
        </p:spPr>
        <p:txBody>
          <a:bodyPr wrap="square" lIns="0" tIns="0" rIns="0" bIns="0" rtlCol="0" anchor="t"/>
          <a:lstStyle/>
          <a:p>
            <a:pPr indent="0" marL="0">
              <a:buNone/>
            </a:pPr>
            <a:r>
              <a:rPr lang="en-US" sz="1300" dirty="0">
                <a:solidFill>
                  <a:srgbClr val="3A4654"/>
                </a:solidFill>
                <a:latin typeface="Courier New" pitchFamily="34" charset="0"/>
                <a:ea typeface="Courier New" pitchFamily="34" charset="-122"/>
                <a:cs typeface="Courier New" pitchFamily="34" charset="-120"/>
              </a:rPr>
              <a:t>python experiments/scripts/demo.py</a:t>
            </a:r>
            <a:endParaRPr lang="en-US" sz="1300" dirty="0"/>
          </a:p>
        </p:txBody>
      </p:sp>
      <p:sp>
        <p:nvSpPr>
          <p:cNvPr id="27" name="demo result"/>
          <p:cNvSpPr txBox="1"/>
          <p:nvPr/>
        </p:nvSpPr>
        <p:spPr>
          <a:xfrm>
            <a:off x="6858000" y="4983480"/>
            <a:ext cx="4572000" cy="868680"/>
          </a:xfrm>
          <a:prstGeom prst="rect">
            <a:avLst/>
          </a:prstGeom>
          <a:noFill/>
          <a:ln/>
        </p:spPr>
        <p:txBody>
          <a:bodyPr wrap="square" lIns="0" tIns="0" rIns="0" bIns="0" rtlCol="0" anchor="t"/>
          <a:lstStyle/>
          <a:p>
            <a:pPr indent="0" marL="0">
              <a:buNone/>
            </a:pPr>
            <a:r>
              <a:rPr lang="en-US" sz="1400" dirty="0">
                <a:solidFill>
                  <a:srgbClr val="1B2430"/>
                </a:solidFill>
              </a:rPr>
              <a:t>Recorded demo (2,000 requests, load 0.9): mean JCT 56.4 s → 29.4 s; CSVs and a plot saved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Three policies behind one interface</a:t>
            </a:r>
            <a:endParaRPr lang="en-US" sz="3000" dirty="0"/>
          </a:p>
        </p:txBody>
      </p:sp>
      <p:sp>
        <p:nvSpPr>
          <p:cNvPr id="4" name="policy card 0"/>
          <p:cNvSpPr/>
          <p:nvPr/>
        </p:nvSpPr>
        <p:spPr>
          <a:xfrm>
            <a:off x="548640" y="1371600"/>
            <a:ext cx="2606040" cy="3520440"/>
          </a:xfrm>
          <a:prstGeom prst="roundRect">
            <a:avLst>
              <a:gd name="adj" fmla="val 2807"/>
            </a:avLst>
          </a:prstGeom>
          <a:solidFill>
            <a:srgbClr val="EEF1F5"/>
          </a:solidFill>
          <a:ln w="6350">
            <a:solidFill>
              <a:srgbClr val="EEF1F5"/>
            </a:solidFill>
            <a:prstDash val="solid"/>
          </a:ln>
        </p:spPr>
      </p:sp>
      <p:sp>
        <p:nvSpPr>
          <p:cNvPr id="5" name="policy badge 0"/>
          <p:cNvSpPr/>
          <p:nvPr/>
        </p:nvSpPr>
        <p:spPr>
          <a:xfrm>
            <a:off x="731520" y="1536192"/>
            <a:ext cx="384048" cy="384048"/>
          </a:xfrm>
          <a:prstGeom prst="ellipse">
            <a:avLst/>
          </a:prstGeom>
          <a:solidFill>
            <a:srgbClr val="2A78D6"/>
          </a:solidFill>
          <a:ln>
            <a:solidFill>
              <a:srgbClr val="2A78D6"/>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policy head 0"/>
          <p:cNvSpPr txBox="1"/>
          <p:nvPr/>
        </p:nvSpPr>
        <p:spPr>
          <a:xfrm>
            <a:off x="1234440" y="1554480"/>
            <a:ext cx="1828800" cy="365760"/>
          </a:xfrm>
          <a:prstGeom prst="rect">
            <a:avLst/>
          </a:prstGeom>
          <a:noFill/>
          <a:ln/>
        </p:spPr>
        <p:txBody>
          <a:bodyPr wrap="square" lIns="0" tIns="0" rIns="0" bIns="0" rtlCol="0" anchor="t"/>
          <a:lstStyle/>
          <a:p>
            <a:pPr indent="0" marL="0">
              <a:buNone/>
            </a:pPr>
            <a:r>
              <a:rPr lang="en-US" sz="1800" b="1" dirty="0">
                <a:solidFill>
                  <a:srgbClr val="1B2430"/>
                </a:solidFill>
              </a:rPr>
              <a:t>FCFS</a:t>
            </a:r>
            <a:endParaRPr lang="en-US" sz="1800" dirty="0"/>
          </a:p>
        </p:txBody>
      </p:sp>
      <p:sp>
        <p:nvSpPr>
          <p:cNvPr id="7" name="policy rule 0"/>
          <p:cNvSpPr txBox="1"/>
          <p:nvPr/>
        </p:nvSpPr>
        <p:spPr>
          <a:xfrm>
            <a:off x="731520" y="2103120"/>
            <a:ext cx="2286000" cy="1051560"/>
          </a:xfrm>
          <a:prstGeom prst="rect">
            <a:avLst/>
          </a:prstGeom>
          <a:noFill/>
          <a:ln/>
        </p:spPr>
        <p:txBody>
          <a:bodyPr wrap="square" lIns="0" tIns="0" rIns="0" bIns="0" rtlCol="0" anchor="t"/>
          <a:lstStyle/>
          <a:p>
            <a:pPr indent="0" marL="0">
              <a:buNone/>
            </a:pPr>
            <a:r>
              <a:rPr lang="en-US" sz="1500" dirty="0">
                <a:solidFill>
                  <a:srgbClr val="1B2430"/>
                </a:solidFill>
              </a:rPr>
              <a:t>Earliest arrival first</a:t>
            </a:r>
            <a:endParaRPr lang="en-US" sz="1500" dirty="0"/>
          </a:p>
        </p:txBody>
      </p:sp>
      <p:sp>
        <p:nvSpPr>
          <p:cNvPr id="8" name="policy key 0"/>
          <p:cNvSpPr txBox="1"/>
          <p:nvPr/>
        </p:nvSpPr>
        <p:spPr>
          <a:xfrm>
            <a:off x="731520" y="3200400"/>
            <a:ext cx="2286000" cy="548640"/>
          </a:xfrm>
          <a:prstGeom prst="rect">
            <a:avLst/>
          </a:prstGeom>
          <a:noFill/>
          <a:ln/>
        </p:spPr>
        <p:txBody>
          <a:bodyPr wrap="square" lIns="0" tIns="0" rIns="0" bIns="0" rtlCol="0" anchor="t"/>
          <a:lstStyle/>
          <a:p>
            <a:pPr indent="0" marL="0">
              <a:buNone/>
            </a:pPr>
            <a:r>
              <a:rPr lang="en-US" sz="1200" dirty="0">
                <a:solidFill>
                  <a:srgbClr val="3A4654"/>
                </a:solidFill>
                <a:latin typeface="Courier New" pitchFamily="34" charset="0"/>
                <a:ea typeface="Courier New" pitchFamily="34" charset="-122"/>
                <a:cs typeface="Courier New" pitchFamily="34" charset="-120"/>
              </a:rPr>
              <a:t>key = (arrival)</a:t>
            </a:r>
            <a:endParaRPr lang="en-US" sz="1200" dirty="0"/>
          </a:p>
        </p:txBody>
      </p:sp>
      <p:sp>
        <p:nvSpPr>
          <p:cNvPr id="9" name="policy note 0"/>
          <p:cNvSpPr txBox="1"/>
          <p:nvPr/>
        </p:nvSpPr>
        <p:spPr>
          <a:xfrm>
            <a:off x="731520" y="3794760"/>
            <a:ext cx="2286000" cy="502920"/>
          </a:xfrm>
          <a:prstGeom prst="rect">
            <a:avLst/>
          </a:prstGeom>
          <a:noFill/>
          <a:ln/>
        </p:spPr>
        <p:txBody>
          <a:bodyPr wrap="square" lIns="0" tIns="0" rIns="0" bIns="0" rtlCol="0" anchor="t"/>
          <a:lstStyle/>
          <a:p>
            <a:pPr indent="0" marL="0">
              <a:buNone/>
            </a:pPr>
            <a:r>
              <a:rPr lang="en-US" sz="1300" dirty="0">
                <a:solidFill>
                  <a:srgbClr val="5B6470"/>
                </a:solidFill>
              </a:rPr>
              <a:t>Baseline: vLLM's admission order</a:t>
            </a:r>
            <a:endParaRPr lang="en-US" sz="1300" dirty="0"/>
          </a:p>
        </p:txBody>
      </p:sp>
      <p:sp>
        <p:nvSpPr>
          <p:cNvPr id="10" name="policy status 0"/>
          <p:cNvSpPr txBox="1"/>
          <p:nvPr/>
        </p:nvSpPr>
        <p:spPr>
          <a:xfrm>
            <a:off x="731520" y="4389120"/>
            <a:ext cx="2286000" cy="320040"/>
          </a:xfrm>
          <a:prstGeom prst="rect">
            <a:avLst/>
          </a:prstGeom>
          <a:noFill/>
          <a:ln/>
        </p:spPr>
        <p:txBody>
          <a:bodyPr wrap="square" lIns="0" tIns="0" rIns="0" bIns="0" rtlCol="0" anchor="t"/>
          <a:lstStyle/>
          <a:p>
            <a:pPr indent="0" marL="0">
              <a:buNone/>
            </a:pPr>
            <a:r>
              <a:rPr lang="en-US" sz="1300" b="1" dirty="0">
                <a:solidFill>
                  <a:srgbClr val="0C8A0C"/>
                </a:solidFill>
              </a:rPr>
              <a:t>Implemented</a:t>
            </a:r>
            <a:endParaRPr lang="en-US" sz="1300" dirty="0"/>
          </a:p>
        </p:txBody>
      </p:sp>
      <p:sp>
        <p:nvSpPr>
          <p:cNvPr id="11" name="policy card 1"/>
          <p:cNvSpPr/>
          <p:nvPr/>
        </p:nvSpPr>
        <p:spPr>
          <a:xfrm>
            <a:off x="3364992" y="1371600"/>
            <a:ext cx="2606040" cy="3520440"/>
          </a:xfrm>
          <a:prstGeom prst="roundRect">
            <a:avLst>
              <a:gd name="adj" fmla="val 2807"/>
            </a:avLst>
          </a:prstGeom>
          <a:solidFill>
            <a:srgbClr val="EEF1F5"/>
          </a:solidFill>
          <a:ln w="6350">
            <a:solidFill>
              <a:srgbClr val="EEF1F5"/>
            </a:solidFill>
            <a:prstDash val="solid"/>
          </a:ln>
        </p:spPr>
      </p:sp>
      <p:sp>
        <p:nvSpPr>
          <p:cNvPr id="12" name="policy badge 1"/>
          <p:cNvSpPr/>
          <p:nvPr/>
        </p:nvSpPr>
        <p:spPr>
          <a:xfrm>
            <a:off x="3547872" y="1536192"/>
            <a:ext cx="384048" cy="384048"/>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3" name="policy head 1"/>
          <p:cNvSpPr txBox="1"/>
          <p:nvPr/>
        </p:nvSpPr>
        <p:spPr>
          <a:xfrm>
            <a:off x="4050792" y="1554480"/>
            <a:ext cx="1828800" cy="365760"/>
          </a:xfrm>
          <a:prstGeom prst="rect">
            <a:avLst/>
          </a:prstGeom>
          <a:noFill/>
          <a:ln/>
        </p:spPr>
        <p:txBody>
          <a:bodyPr wrap="square" lIns="0" tIns="0" rIns="0" bIns="0" rtlCol="0" anchor="t"/>
          <a:lstStyle/>
          <a:p>
            <a:pPr indent="0" marL="0">
              <a:buNone/>
            </a:pPr>
            <a:r>
              <a:rPr lang="en-US" sz="1800" b="1" dirty="0">
                <a:solidFill>
                  <a:srgbClr val="1B2430"/>
                </a:solidFill>
              </a:rPr>
              <a:t>Predictive SJF</a:t>
            </a:r>
            <a:endParaRPr lang="en-US" sz="1800" dirty="0"/>
          </a:p>
        </p:txBody>
      </p:sp>
      <p:sp>
        <p:nvSpPr>
          <p:cNvPr id="14" name="policy rule 1"/>
          <p:cNvSpPr txBox="1"/>
          <p:nvPr/>
        </p:nvSpPr>
        <p:spPr>
          <a:xfrm>
            <a:off x="3547872" y="2103120"/>
            <a:ext cx="2286000" cy="1051560"/>
          </a:xfrm>
          <a:prstGeom prst="rect">
            <a:avLst/>
          </a:prstGeom>
          <a:noFill/>
          <a:ln/>
        </p:spPr>
        <p:txBody>
          <a:bodyPr wrap="square" lIns="0" tIns="0" rIns="0" bIns="0" rtlCol="0" anchor="t"/>
          <a:lstStyle/>
          <a:p>
            <a:pPr indent="0" marL="0">
              <a:buNone/>
            </a:pPr>
            <a:r>
              <a:rPr lang="en-US" sz="1500" dirty="0">
                <a:solidFill>
                  <a:srgbClr val="1B2430"/>
                </a:solidFill>
              </a:rPr>
              <a:t>Smallest predicted output first; never interrupts a running request</a:t>
            </a:r>
            <a:endParaRPr lang="en-US" sz="1500" dirty="0"/>
          </a:p>
        </p:txBody>
      </p:sp>
      <p:sp>
        <p:nvSpPr>
          <p:cNvPr id="15" name="policy key 1"/>
          <p:cNvSpPr txBox="1"/>
          <p:nvPr/>
        </p:nvSpPr>
        <p:spPr>
          <a:xfrm>
            <a:off x="3547872" y="3200400"/>
            <a:ext cx="2286000" cy="548640"/>
          </a:xfrm>
          <a:prstGeom prst="rect">
            <a:avLst/>
          </a:prstGeom>
          <a:noFill/>
          <a:ln/>
        </p:spPr>
        <p:txBody>
          <a:bodyPr wrap="square" lIns="0" tIns="0" rIns="0" bIns="0" rtlCol="0" anchor="t"/>
          <a:lstStyle/>
          <a:p>
            <a:pPr indent="0" marL="0">
              <a:buNone/>
            </a:pPr>
            <a:r>
              <a:rPr lang="en-US" sz="1200" dirty="0">
                <a:solidFill>
                  <a:srgbClr val="3A4654"/>
                </a:solidFill>
                <a:latin typeface="Courier New" pitchFamily="34" charset="0"/>
                <a:ea typeface="Courier New" pitchFamily="34" charset="-122"/>
                <a:cs typeface="Courier New" pitchFamily="34" charset="-120"/>
              </a:rPr>
              <a:t>key = (predicted, arrival)</a:t>
            </a:r>
            <a:endParaRPr lang="en-US" sz="1200" dirty="0"/>
          </a:p>
        </p:txBody>
      </p:sp>
      <p:sp>
        <p:nvSpPr>
          <p:cNvPr id="16" name="policy note 1"/>
          <p:cNvSpPr txBox="1"/>
          <p:nvPr/>
        </p:nvSpPr>
        <p:spPr>
          <a:xfrm>
            <a:off x="3547872" y="3794760"/>
            <a:ext cx="2286000" cy="502920"/>
          </a:xfrm>
          <a:prstGeom prst="rect">
            <a:avLst/>
          </a:prstGeom>
          <a:noFill/>
          <a:ln/>
        </p:spPr>
        <p:txBody>
          <a:bodyPr wrap="square" lIns="0" tIns="0" rIns="0" bIns="0" rtlCol="0" anchor="t"/>
          <a:lstStyle/>
          <a:p>
            <a:pPr indent="0" marL="0">
              <a:buNone/>
            </a:pPr>
            <a:r>
              <a:rPr lang="en-US" sz="1300" dirty="0">
                <a:solidFill>
                  <a:srgbClr val="5B6470"/>
                </a:solidFill>
              </a:rPr>
              <a:t>Non-preemptive</a:t>
            </a:r>
            <a:endParaRPr lang="en-US" sz="1300" dirty="0"/>
          </a:p>
        </p:txBody>
      </p:sp>
      <p:sp>
        <p:nvSpPr>
          <p:cNvPr id="17" name="policy status 1"/>
          <p:cNvSpPr txBox="1"/>
          <p:nvPr/>
        </p:nvSpPr>
        <p:spPr>
          <a:xfrm>
            <a:off x="3547872" y="4389120"/>
            <a:ext cx="2286000" cy="320040"/>
          </a:xfrm>
          <a:prstGeom prst="rect">
            <a:avLst/>
          </a:prstGeom>
          <a:noFill/>
          <a:ln/>
        </p:spPr>
        <p:txBody>
          <a:bodyPr wrap="square" lIns="0" tIns="0" rIns="0" bIns="0" rtlCol="0" anchor="t"/>
          <a:lstStyle/>
          <a:p>
            <a:pPr indent="0" marL="0">
              <a:buNone/>
            </a:pPr>
            <a:r>
              <a:rPr lang="en-US" sz="1300" b="1" dirty="0">
                <a:solidFill>
                  <a:srgbClr val="0C8A0C"/>
                </a:solidFill>
              </a:rPr>
              <a:t>Implemented</a:t>
            </a:r>
            <a:endParaRPr lang="en-US" sz="1300" dirty="0"/>
          </a:p>
        </p:txBody>
      </p:sp>
      <p:sp>
        <p:nvSpPr>
          <p:cNvPr id="18" name="policy card 2"/>
          <p:cNvSpPr/>
          <p:nvPr/>
        </p:nvSpPr>
        <p:spPr>
          <a:xfrm>
            <a:off x="6181344" y="1371600"/>
            <a:ext cx="2606040" cy="3520440"/>
          </a:xfrm>
          <a:prstGeom prst="roundRect">
            <a:avLst>
              <a:gd name="adj" fmla="val 2807"/>
            </a:avLst>
          </a:prstGeom>
          <a:solidFill>
            <a:srgbClr val="EEF1F5"/>
          </a:solidFill>
          <a:ln w="6350">
            <a:solidFill>
              <a:srgbClr val="EEF1F5"/>
            </a:solidFill>
            <a:prstDash val="solid"/>
          </a:ln>
        </p:spPr>
      </p:sp>
      <p:sp>
        <p:nvSpPr>
          <p:cNvPr id="19" name="policy badge 2"/>
          <p:cNvSpPr/>
          <p:nvPr/>
        </p:nvSpPr>
        <p:spPr>
          <a:xfrm>
            <a:off x="6364224" y="1536192"/>
            <a:ext cx="384048" cy="38404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policy head 2"/>
          <p:cNvSpPr txBox="1"/>
          <p:nvPr/>
        </p:nvSpPr>
        <p:spPr>
          <a:xfrm>
            <a:off x="6867144" y="1554480"/>
            <a:ext cx="1828800" cy="365760"/>
          </a:xfrm>
          <a:prstGeom prst="rect">
            <a:avLst/>
          </a:prstGeom>
          <a:noFill/>
          <a:ln/>
        </p:spPr>
        <p:txBody>
          <a:bodyPr wrap="square" lIns="0" tIns="0" rIns="0" bIns="0" rtlCol="0" anchor="t"/>
          <a:lstStyle/>
          <a:p>
            <a:pPr indent="0" marL="0">
              <a:buNone/>
            </a:pPr>
            <a:r>
              <a:rPr lang="en-US" sz="1800" b="1" dirty="0">
                <a:solidFill>
                  <a:srgbClr val="1B2430"/>
                </a:solidFill>
              </a:rPr>
              <a:t>SJF + aging</a:t>
            </a:r>
            <a:endParaRPr lang="en-US" sz="1800" dirty="0"/>
          </a:p>
        </p:txBody>
      </p:sp>
      <p:sp>
        <p:nvSpPr>
          <p:cNvPr id="21" name="policy rule 2"/>
          <p:cNvSpPr txBox="1"/>
          <p:nvPr/>
        </p:nvSpPr>
        <p:spPr>
          <a:xfrm>
            <a:off x="6364224" y="2103120"/>
            <a:ext cx="2286000" cy="1051560"/>
          </a:xfrm>
          <a:prstGeom prst="rect">
            <a:avLst/>
          </a:prstGeom>
          <a:noFill/>
          <a:ln/>
        </p:spPr>
        <p:txBody>
          <a:bodyPr wrap="square" lIns="0" tIns="0" rIns="0" bIns="0" rtlCol="0" anchor="t"/>
          <a:lstStyle/>
          <a:p>
            <a:pPr indent="0" marL="0">
              <a:buNone/>
            </a:pPr>
            <a:r>
              <a:rPr lang="en-US" sz="1500" dirty="0">
                <a:solidFill>
                  <a:srgbClr val="1B2430"/>
                </a:solidFill>
              </a:rPr>
              <a:t>Priority improves while waiting: predicted − a × wait</a:t>
            </a:r>
            <a:endParaRPr lang="en-US" sz="1500" dirty="0"/>
          </a:p>
        </p:txBody>
      </p:sp>
      <p:sp>
        <p:nvSpPr>
          <p:cNvPr id="22" name="policy key 2"/>
          <p:cNvSpPr txBox="1"/>
          <p:nvPr/>
        </p:nvSpPr>
        <p:spPr>
          <a:xfrm>
            <a:off x="6364224" y="3200400"/>
            <a:ext cx="2286000" cy="548640"/>
          </a:xfrm>
          <a:prstGeom prst="rect">
            <a:avLst/>
          </a:prstGeom>
          <a:noFill/>
          <a:ln/>
        </p:spPr>
        <p:txBody>
          <a:bodyPr wrap="square" lIns="0" tIns="0" rIns="0" bIns="0" rtlCol="0" anchor="t"/>
          <a:lstStyle/>
          <a:p>
            <a:pPr indent="0" marL="0">
              <a:buNone/>
            </a:pPr>
            <a:r>
              <a:rPr lang="en-US" sz="1200" dirty="0">
                <a:solidFill>
                  <a:srgbClr val="3A4654"/>
                </a:solidFill>
                <a:latin typeface="Courier New" pitchFamily="34" charset="0"/>
                <a:ea typeface="Courier New" pitchFamily="34" charset="-122"/>
                <a:cs typeface="Courier New" pitchFamily="34" charset="-120"/>
              </a:rPr>
              <a:t>≡ key = predicted + a × arrival</a:t>
            </a:r>
            <a:endParaRPr lang="en-US" sz="1200" dirty="0"/>
          </a:p>
        </p:txBody>
      </p:sp>
      <p:sp>
        <p:nvSpPr>
          <p:cNvPr id="23" name="policy note 2"/>
          <p:cNvSpPr txBox="1"/>
          <p:nvPr/>
        </p:nvSpPr>
        <p:spPr>
          <a:xfrm>
            <a:off x="6364224" y="3794760"/>
            <a:ext cx="2286000" cy="502920"/>
          </a:xfrm>
          <a:prstGeom prst="rect">
            <a:avLst/>
          </a:prstGeom>
          <a:noFill/>
          <a:ln/>
        </p:spPr>
        <p:txBody>
          <a:bodyPr wrap="square" lIns="0" tIns="0" rIns="0" bIns="0" rtlCol="0" anchor="t"/>
          <a:lstStyle/>
          <a:p>
            <a:pPr indent="0" marL="0">
              <a:buNone/>
            </a:pPr>
            <a:r>
              <a:rPr lang="en-US" sz="1300" dirty="0">
                <a:solidFill>
                  <a:srgbClr val="5B6470"/>
                </a:solidFill>
              </a:rPr>
              <a:t>a = 0 → SJF;  a → ∞ → FCFS</a:t>
            </a:r>
            <a:endParaRPr lang="en-US" sz="1300" dirty="0"/>
          </a:p>
        </p:txBody>
      </p:sp>
      <p:sp>
        <p:nvSpPr>
          <p:cNvPr id="24" name="policy status 2"/>
          <p:cNvSpPr txBox="1"/>
          <p:nvPr/>
        </p:nvSpPr>
        <p:spPr>
          <a:xfrm>
            <a:off x="6364224" y="4389120"/>
            <a:ext cx="2286000" cy="320040"/>
          </a:xfrm>
          <a:prstGeom prst="rect">
            <a:avLst/>
          </a:prstGeom>
          <a:noFill/>
          <a:ln/>
        </p:spPr>
        <p:txBody>
          <a:bodyPr wrap="square" lIns="0" tIns="0" rIns="0" bIns="0" rtlCol="0" anchor="t"/>
          <a:lstStyle/>
          <a:p>
            <a:pPr indent="0" marL="0">
              <a:buNone/>
            </a:pPr>
            <a:r>
              <a:rPr lang="en-US" sz="1300" b="1" dirty="0">
                <a:solidFill>
                  <a:srgbClr val="3A4654"/>
                </a:solidFill>
              </a:rPr>
              <a:t>Extension</a:t>
            </a:r>
            <a:endParaRPr lang="en-US" sz="1300" dirty="0"/>
          </a:p>
        </p:txBody>
      </p:sp>
      <p:sp>
        <p:nvSpPr>
          <p:cNvPr id="25" name="policy card 3"/>
          <p:cNvSpPr/>
          <p:nvPr/>
        </p:nvSpPr>
        <p:spPr>
          <a:xfrm>
            <a:off x="8997696" y="1371600"/>
            <a:ext cx="2606040" cy="3520440"/>
          </a:xfrm>
          <a:prstGeom prst="roundRect">
            <a:avLst>
              <a:gd name="adj" fmla="val 2807"/>
            </a:avLst>
          </a:prstGeom>
          <a:solidFill>
            <a:srgbClr val="FFFFFF"/>
          </a:solidFill>
          <a:ln w="15875">
            <a:solidFill>
              <a:srgbClr val="8A93A0"/>
            </a:solidFill>
            <a:prstDash val="dash"/>
          </a:ln>
        </p:spPr>
      </p:sp>
      <p:sp>
        <p:nvSpPr>
          <p:cNvPr id="26" name="policy badge 3"/>
          <p:cNvSpPr/>
          <p:nvPr/>
        </p:nvSpPr>
        <p:spPr>
          <a:xfrm>
            <a:off x="9180576" y="1536192"/>
            <a:ext cx="384048" cy="384048"/>
          </a:xfrm>
          <a:prstGeom prst="ellipse">
            <a:avLst/>
          </a:prstGeom>
          <a:solidFill>
            <a:srgbClr val="8A93A0"/>
          </a:solidFill>
          <a:ln>
            <a:solidFill>
              <a:srgbClr val="8A93A0"/>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7" name="policy head 3"/>
          <p:cNvSpPr txBox="1"/>
          <p:nvPr/>
        </p:nvSpPr>
        <p:spPr>
          <a:xfrm>
            <a:off x="9683496" y="1554480"/>
            <a:ext cx="1828800" cy="365760"/>
          </a:xfrm>
          <a:prstGeom prst="rect">
            <a:avLst/>
          </a:prstGeom>
          <a:noFill/>
          <a:ln/>
        </p:spPr>
        <p:txBody>
          <a:bodyPr wrap="square" lIns="0" tIns="0" rIns="0" bIns="0" rtlCol="0" anchor="t"/>
          <a:lstStyle/>
          <a:p>
            <a:pPr indent="0" marL="0">
              <a:buNone/>
            </a:pPr>
            <a:r>
              <a:rPr lang="en-US" sz="1800" b="1" dirty="0">
                <a:solidFill>
                  <a:srgbClr val="8A93A0"/>
                </a:solidFill>
              </a:rPr>
              <a:t>MLFQ</a:t>
            </a:r>
            <a:endParaRPr lang="en-US" sz="1800" dirty="0"/>
          </a:p>
        </p:txBody>
      </p:sp>
      <p:sp>
        <p:nvSpPr>
          <p:cNvPr id="28" name="policy rule 3"/>
          <p:cNvSpPr txBox="1"/>
          <p:nvPr/>
        </p:nvSpPr>
        <p:spPr>
          <a:xfrm>
            <a:off x="9180576" y="2103120"/>
            <a:ext cx="2286000" cy="1051560"/>
          </a:xfrm>
          <a:prstGeom prst="rect">
            <a:avLst/>
          </a:prstGeom>
          <a:noFill/>
          <a:ln/>
        </p:spPr>
        <p:txBody>
          <a:bodyPr wrap="square" lIns="0" tIns="0" rIns="0" bIns="0" rtlCol="0" anchor="t"/>
          <a:lstStyle/>
          <a:p>
            <a:pPr indent="0" marL="0">
              <a:buNone/>
            </a:pPr>
            <a:r>
              <a:rPr lang="en-US" sz="1500" dirty="0">
                <a:solidFill>
                  <a:srgbClr val="8A93A0"/>
                </a:solidFill>
              </a:rPr>
              <a:t>Demote by tokens generated vs prediction; periodic boost</a:t>
            </a:r>
            <a:endParaRPr lang="en-US" sz="1500" dirty="0"/>
          </a:p>
        </p:txBody>
      </p:sp>
      <p:sp>
        <p:nvSpPr>
          <p:cNvPr id="29" name="policy key 3"/>
          <p:cNvSpPr txBox="1"/>
          <p:nvPr/>
        </p:nvSpPr>
        <p:spPr>
          <a:xfrm>
            <a:off x="9180576" y="3200400"/>
            <a:ext cx="2286000" cy="548640"/>
          </a:xfrm>
          <a:prstGeom prst="rect">
            <a:avLst/>
          </a:prstGeom>
          <a:noFill/>
          <a:ln/>
        </p:spPr>
        <p:txBody>
          <a:bodyPr wrap="square" lIns="0" tIns="0" rIns="0" bIns="0" rtlCol="0" anchor="t"/>
          <a:lstStyle/>
          <a:p>
            <a:pPr indent="0" marL="0">
              <a:buNone/>
            </a:pPr>
            <a:r>
              <a:rPr lang="en-US" sz="1200" dirty="0">
                <a:solidFill>
                  <a:srgbClr val="8A93A0"/>
                </a:solidFill>
                <a:latin typeface="Courier New" pitchFamily="34" charset="0"/>
                <a:ea typeface="Courier New" pitchFamily="34" charset="-122"/>
                <a:cs typeface="Courier New" pitchFamily="34" charset="-120"/>
              </a:rPr>
              <a:t>time-varying; needs preemption</a:t>
            </a:r>
            <a:endParaRPr lang="en-US" sz="1200" dirty="0"/>
          </a:p>
        </p:txBody>
      </p:sp>
      <p:sp>
        <p:nvSpPr>
          <p:cNvPr id="30" name="policy note 3"/>
          <p:cNvSpPr txBox="1"/>
          <p:nvPr/>
        </p:nvSpPr>
        <p:spPr>
          <a:xfrm>
            <a:off x="9180576" y="3794760"/>
            <a:ext cx="2286000" cy="502920"/>
          </a:xfrm>
          <a:prstGeom prst="rect">
            <a:avLst/>
          </a:prstGeom>
          <a:noFill/>
          <a:ln/>
        </p:spPr>
        <p:txBody>
          <a:bodyPr wrap="square" lIns="0" tIns="0" rIns="0" bIns="0" rtlCol="0" anchor="t"/>
          <a:lstStyle/>
          <a:p>
            <a:pPr indent="0" marL="0">
              <a:buNone/>
            </a:pPr>
            <a:r>
              <a:rPr lang="en-US" sz="1300" dirty="0">
                <a:solidFill>
                  <a:srgbClr val="5B6470"/>
                </a:solidFill>
              </a:rPr>
              <a:t>Synopsis centrepiece</a:t>
            </a:r>
            <a:endParaRPr lang="en-US" sz="1300" dirty="0"/>
          </a:p>
        </p:txBody>
      </p:sp>
      <p:sp>
        <p:nvSpPr>
          <p:cNvPr id="31" name="policy status 3"/>
          <p:cNvSpPr txBox="1"/>
          <p:nvPr/>
        </p:nvSpPr>
        <p:spPr>
          <a:xfrm>
            <a:off x="9180576" y="4389120"/>
            <a:ext cx="2286000" cy="320040"/>
          </a:xfrm>
          <a:prstGeom prst="rect">
            <a:avLst/>
          </a:prstGeom>
          <a:noFill/>
          <a:ln/>
        </p:spPr>
        <p:txBody>
          <a:bodyPr wrap="square" lIns="0" tIns="0" rIns="0" bIns="0" rtlCol="0" anchor="t"/>
          <a:lstStyle/>
          <a:p>
            <a:pPr indent="0" marL="0">
              <a:buNone/>
            </a:pPr>
            <a:r>
              <a:rPr lang="en-US" sz="1300" b="1" dirty="0">
                <a:solidFill>
                  <a:srgbClr val="8A93A0"/>
                </a:solidFill>
              </a:rPr>
              <a:t>Planned</a:t>
            </a:r>
            <a:endParaRPr lang="en-US" sz="1300" dirty="0"/>
          </a:p>
        </p:txBody>
      </p:sp>
      <p:sp>
        <p:nvSpPr>
          <p:cNvPr id="32" name="predictor card"/>
          <p:cNvSpPr/>
          <p:nvPr/>
        </p:nvSpPr>
        <p:spPr>
          <a:xfrm>
            <a:off x="548640" y="5120640"/>
            <a:ext cx="11064240" cy="960120"/>
          </a:xfrm>
          <a:prstGeom prst="roundRect">
            <a:avLst>
              <a:gd name="adj" fmla="val 7619"/>
            </a:avLst>
          </a:prstGeom>
          <a:solidFill>
            <a:srgbClr val="EEF1F5"/>
          </a:solidFill>
          <a:ln w="6350">
            <a:solidFill>
              <a:srgbClr val="EEF1F5"/>
            </a:solidFill>
            <a:prstDash val="solid"/>
          </a:ln>
        </p:spPr>
      </p:sp>
      <p:sp>
        <p:nvSpPr>
          <p:cNvPr id="33" name="predictor formula"/>
          <p:cNvSpPr txBox="1"/>
          <p:nvPr/>
        </p:nvSpPr>
        <p:spPr>
          <a:xfrm>
            <a:off x="777240" y="5212080"/>
            <a:ext cx="10607040" cy="777240"/>
          </a:xfrm>
          <a:prstGeom prst="rect">
            <a:avLst/>
          </a:prstGeom>
          <a:noFill/>
          <a:ln/>
        </p:spPr>
        <p:txBody>
          <a:bodyPr wrap="square" lIns="0" tIns="0" rIns="0" bIns="0" rtlCol="0" anchor="ctr"/>
          <a:lstStyle/>
          <a:p>
            <a:pPr indent="0" marL="0">
              <a:buNone/>
            </a:pPr>
            <a:r>
              <a:rPr lang="en-US" sz="1400" b="1" dirty="0">
                <a:solidFill>
                  <a:srgbClr val="1B2430"/>
                </a:solidFill>
              </a:rPr>
              <a:t>Heuristic predictor (features only):  </a:t>
            </a:r>
            <a:pPr indent="0" marL="0">
              <a:buNone/>
            </a:pPr>
            <a:r>
              <a:rPr lang="en-US" sz="1400" dirty="0">
                <a:solidFill>
                  <a:srgbClr val="1B2430"/>
                </a:solidFill>
              </a:rPr>
              <a:t>prediction = prior[task] × √(prompt / 1024) [summaries] × 2 [if detail requested], capped at max_tokens;  priors qa 32, chat 128, summary 128, code 256, long-form 512</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Paired experiments on a validated simulator</a:t>
            </a:r>
            <a:endParaRPr lang="en-US" sz="3000" dirty="0"/>
          </a:p>
        </p:txBody>
      </p:sp>
      <p:sp>
        <p:nvSpPr>
          <p:cNvPr id="4" name="method bullets"/>
          <p:cNvSpPr txBox="1"/>
          <p:nvPr/>
        </p:nvSpPr>
        <p:spPr>
          <a:xfrm>
            <a:off x="548640" y="1371600"/>
            <a:ext cx="5669280" cy="4480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430"/>
                </a:solidFill>
              </a:rPr>
              <a:t>Workloads: short-heavy, mixed, long-heavy task mixes (synthetic)</a:t>
            </a:r>
            <a:endParaRPr lang="en-US" sz="1600" dirty="0"/>
          </a:p>
          <a:p>
            <a:pPr marL="342900" indent="-342900">
              <a:spcAft>
                <a:spcPts val="1000"/>
              </a:spcAft>
              <a:buSzPct val="100000"/>
              <a:buChar char="•"/>
            </a:pPr>
            <a:r>
              <a:rPr lang="en-US" sz="1600" dirty="0">
                <a:solidFill>
                  <a:srgbClr val="1B2430"/>
                </a:solidFill>
              </a:rPr>
              <a:t>Poisson arrivals at target utilisation ρ = 0.5 … 1.3</a:t>
            </a:r>
            <a:endParaRPr lang="en-US" sz="1600" dirty="0"/>
          </a:p>
          <a:p>
            <a:pPr marL="342900" indent="-342900">
              <a:spcAft>
                <a:spcPts val="1000"/>
              </a:spcAft>
              <a:buSzPct val="100000"/>
              <a:buChar char="•"/>
            </a:pPr>
            <a:r>
              <a:rPr lang="en-US" sz="1600" dirty="0">
                <a:solidFill>
                  <a:srgbClr val="1B2430"/>
                </a:solidFill>
              </a:rPr>
              <a:t>10 paired seeds × 5,000 requests; same trace for every policy</a:t>
            </a:r>
            <a:endParaRPr lang="en-US" sz="1600" dirty="0"/>
          </a:p>
          <a:p>
            <a:pPr marL="342900" indent="-342900">
              <a:spcAft>
                <a:spcPts val="1000"/>
              </a:spcAft>
              <a:buSzPct val="100000"/>
              <a:buChar char="•"/>
            </a:pPr>
            <a:r>
              <a:rPr lang="en-US" sz="1600" dirty="0">
                <a:solidFill>
                  <a:srgbClr val="1B2430"/>
                </a:solidFill>
              </a:rPr>
              <a:t>Unit of analysis = seed; 95 % t-interval on per-seed change vs FCFS</a:t>
            </a:r>
            <a:endParaRPr lang="en-US" sz="1600" dirty="0"/>
          </a:p>
          <a:p>
            <a:pPr marL="342900" indent="-342900">
              <a:spcAft>
                <a:spcPts val="1000"/>
              </a:spcAft>
              <a:buSzPct val="100000"/>
              <a:buChar char="•"/>
            </a:pPr>
            <a:r>
              <a:rPr lang="en-US" sz="1600" dirty="0">
                <a:solidFill>
                  <a:srgbClr val="1B2430"/>
                </a:solidFill>
              </a:rPr>
              <a:t>Assumed service: prefill 10 ms + 0.2 ms/token; decode 25 ms/token</a:t>
            </a:r>
            <a:endParaRPr lang="en-US" sz="1600" dirty="0"/>
          </a:p>
          <a:p>
            <a:pPr marL="342900" indent="-342900">
              <a:spcAft>
                <a:spcPts val="1000"/>
              </a:spcAft>
              <a:buSzPct val="100000"/>
              <a:buChar char="•"/>
            </a:pPr>
            <a:r>
              <a:rPr lang="en-US" sz="1600" dirty="0">
                <a:solidFill>
                  <a:srgbClr val="1B2430"/>
                </a:solidFill>
              </a:rPr>
              <a:t>Hypotheses written into each config before its run</a:t>
            </a:r>
            <a:endParaRPr lang="en-US" sz="1600" dirty="0"/>
          </a:p>
        </p:txBody>
      </p:sp>
      <p:sp>
        <p:nvSpPr>
          <p:cNvPr id="5" name="validation head"/>
          <p:cNvSpPr txBox="1"/>
          <p:nvPr/>
        </p:nvSpPr>
        <p:spPr>
          <a:xfrm>
            <a:off x="6583680" y="1325880"/>
            <a:ext cx="5029200" cy="365760"/>
          </a:xfrm>
          <a:prstGeom prst="rect">
            <a:avLst/>
          </a:prstGeom>
          <a:noFill/>
          <a:ln/>
        </p:spPr>
        <p:txBody>
          <a:bodyPr wrap="square" lIns="0" tIns="0" rIns="0" bIns="0" rtlCol="0" anchor="t"/>
          <a:lstStyle/>
          <a:p>
            <a:pPr indent="0" marL="0">
              <a:buNone/>
            </a:pPr>
            <a:r>
              <a:rPr lang="en-US" sz="1700" b="1" dirty="0">
                <a:solidFill>
                  <a:srgbClr val="1B2430"/>
                </a:solidFill>
              </a:rPr>
              <a:t>Simulator validation (EXP1)</a:t>
            </a:r>
            <a:endParaRPr lang="en-US" sz="1700" dirty="0"/>
          </a:p>
        </p:txBody>
      </p:sp>
      <p:sp>
        <p:nvSpPr>
          <p:cNvPr id="6" name="val tile 0"/>
          <p:cNvSpPr/>
          <p:nvPr/>
        </p:nvSpPr>
        <p:spPr>
          <a:xfrm>
            <a:off x="6583680" y="1828800"/>
            <a:ext cx="2377440" cy="1783080"/>
          </a:xfrm>
          <a:prstGeom prst="roundRect">
            <a:avLst>
              <a:gd name="adj" fmla="val 4103"/>
            </a:avLst>
          </a:prstGeom>
          <a:solidFill>
            <a:srgbClr val="EEF1F5"/>
          </a:solidFill>
          <a:ln w="6350">
            <a:solidFill>
              <a:srgbClr val="EEF1F5"/>
            </a:solidFill>
            <a:prstDash val="solid"/>
          </a:ln>
        </p:spPr>
      </p:sp>
      <p:sp>
        <p:nvSpPr>
          <p:cNvPr id="7" name="val value 0"/>
          <p:cNvSpPr txBox="1"/>
          <p:nvPr/>
        </p:nvSpPr>
        <p:spPr>
          <a:xfrm>
            <a:off x="6748272" y="2011680"/>
            <a:ext cx="2103120" cy="548640"/>
          </a:xfrm>
          <a:prstGeom prst="rect">
            <a:avLst/>
          </a:prstGeom>
          <a:noFill/>
          <a:ln/>
        </p:spPr>
        <p:txBody>
          <a:bodyPr wrap="square" lIns="0" tIns="0" rIns="0" bIns="0" rtlCol="0" anchor="t"/>
          <a:lstStyle/>
          <a:p>
            <a:pPr indent="0" marL="0">
              <a:buNone/>
            </a:pPr>
            <a:r>
              <a:rPr lang="en-US" sz="2400" b="1" dirty="0">
                <a:solidFill>
                  <a:srgbClr val="1B2430"/>
                </a:solidFill>
              </a:rPr>
              <a:t>1.3 × 10⁻⁹ s</a:t>
            </a:r>
            <a:endParaRPr lang="en-US" sz="2400" dirty="0"/>
          </a:p>
        </p:txBody>
      </p:sp>
      <p:sp>
        <p:nvSpPr>
          <p:cNvPr id="8" name="val label 0"/>
          <p:cNvSpPr txBox="1"/>
          <p:nvPr/>
        </p:nvSpPr>
        <p:spPr>
          <a:xfrm>
            <a:off x="6748272" y="2651760"/>
            <a:ext cx="2103120" cy="868680"/>
          </a:xfrm>
          <a:prstGeom prst="rect">
            <a:avLst/>
          </a:prstGeom>
          <a:noFill/>
          <a:ln/>
        </p:spPr>
        <p:txBody>
          <a:bodyPr wrap="square" lIns="0" tIns="0" rIns="0" bIns="0" rtlCol="0" anchor="t"/>
          <a:lstStyle/>
          <a:p>
            <a:pPr indent="0" marL="0">
              <a:buNone/>
            </a:pPr>
            <a:r>
              <a:rPr lang="en-US" sz="1300" dirty="0">
                <a:solidFill>
                  <a:srgbClr val="5B6470"/>
                </a:solidFill>
              </a:rPr>
              <a:t>max gap vs independent Lindley recursion (FCFS)</a:t>
            </a:r>
            <a:endParaRPr lang="en-US" sz="1300" dirty="0"/>
          </a:p>
        </p:txBody>
      </p:sp>
      <p:sp>
        <p:nvSpPr>
          <p:cNvPr id="9" name="val tile 1"/>
          <p:cNvSpPr/>
          <p:nvPr/>
        </p:nvSpPr>
        <p:spPr>
          <a:xfrm>
            <a:off x="9144000" y="1828800"/>
            <a:ext cx="2377440" cy="1783080"/>
          </a:xfrm>
          <a:prstGeom prst="roundRect">
            <a:avLst>
              <a:gd name="adj" fmla="val 4103"/>
            </a:avLst>
          </a:prstGeom>
          <a:solidFill>
            <a:srgbClr val="EEF1F5"/>
          </a:solidFill>
          <a:ln w="6350">
            <a:solidFill>
              <a:srgbClr val="EEF1F5"/>
            </a:solidFill>
            <a:prstDash val="solid"/>
          </a:ln>
        </p:spPr>
      </p:sp>
      <p:sp>
        <p:nvSpPr>
          <p:cNvPr id="10" name="val value 1"/>
          <p:cNvSpPr txBox="1"/>
          <p:nvPr/>
        </p:nvSpPr>
        <p:spPr>
          <a:xfrm>
            <a:off x="9308592" y="2011680"/>
            <a:ext cx="2103120" cy="548640"/>
          </a:xfrm>
          <a:prstGeom prst="rect">
            <a:avLst/>
          </a:prstGeom>
          <a:noFill/>
          <a:ln/>
        </p:spPr>
        <p:txBody>
          <a:bodyPr wrap="square" lIns="0" tIns="0" rIns="0" bIns="0" rtlCol="0" anchor="t"/>
          <a:lstStyle/>
          <a:p>
            <a:pPr indent="0" marL="0">
              <a:buNone/>
            </a:pPr>
            <a:r>
              <a:rPr lang="en-US" sz="2400" b="1" dirty="0">
                <a:solidFill>
                  <a:srgbClr val="1B2430"/>
                </a:solidFill>
              </a:rPr>
              <a:t>2.2%</a:t>
            </a:r>
            <a:endParaRPr lang="en-US" sz="2400" dirty="0"/>
          </a:p>
        </p:txBody>
      </p:sp>
      <p:sp>
        <p:nvSpPr>
          <p:cNvPr id="11" name="val label 1"/>
          <p:cNvSpPr txBox="1"/>
          <p:nvPr/>
        </p:nvSpPr>
        <p:spPr>
          <a:xfrm>
            <a:off x="9308592" y="2651760"/>
            <a:ext cx="2103120" cy="868680"/>
          </a:xfrm>
          <a:prstGeom prst="rect">
            <a:avLst/>
          </a:prstGeom>
          <a:noFill/>
          <a:ln/>
        </p:spPr>
        <p:txBody>
          <a:bodyPr wrap="square" lIns="0" tIns="0" rIns="0" bIns="0" rtlCol="0" anchor="t"/>
          <a:lstStyle/>
          <a:p>
            <a:pPr indent="0" marL="0">
              <a:buNone/>
            </a:pPr>
            <a:r>
              <a:rPr lang="en-US" sz="1300" dirty="0">
                <a:solidFill>
                  <a:srgbClr val="5B6470"/>
                </a:solidFill>
              </a:rPr>
              <a:t>mean abs. error vs Pollaczek–Khinchine &amp; Cobham (27 cells)</a:t>
            </a:r>
            <a:endParaRPr lang="en-US" sz="1300" dirty="0"/>
          </a:p>
        </p:txBody>
      </p:sp>
      <p:sp>
        <p:nvSpPr>
          <p:cNvPr id="12" name="val tile 2"/>
          <p:cNvSpPr/>
          <p:nvPr/>
        </p:nvSpPr>
        <p:spPr>
          <a:xfrm>
            <a:off x="6583680" y="3794760"/>
            <a:ext cx="2377440" cy="1783080"/>
          </a:xfrm>
          <a:prstGeom prst="roundRect">
            <a:avLst>
              <a:gd name="adj" fmla="val 4103"/>
            </a:avLst>
          </a:prstGeom>
          <a:solidFill>
            <a:srgbClr val="EEF1F5"/>
          </a:solidFill>
          <a:ln w="6350">
            <a:solidFill>
              <a:srgbClr val="EEF1F5"/>
            </a:solidFill>
            <a:prstDash val="solid"/>
          </a:ln>
        </p:spPr>
      </p:sp>
      <p:sp>
        <p:nvSpPr>
          <p:cNvPr id="13" name="val value 2"/>
          <p:cNvSpPr txBox="1"/>
          <p:nvPr/>
        </p:nvSpPr>
        <p:spPr>
          <a:xfrm>
            <a:off x="6748272" y="3977640"/>
            <a:ext cx="2103120" cy="548640"/>
          </a:xfrm>
          <a:prstGeom prst="rect">
            <a:avLst/>
          </a:prstGeom>
          <a:noFill/>
          <a:ln/>
        </p:spPr>
        <p:txBody>
          <a:bodyPr wrap="square" lIns="0" tIns="0" rIns="0" bIns="0" rtlCol="0" anchor="t"/>
          <a:lstStyle/>
          <a:p>
            <a:pPr indent="0" marL="0">
              <a:buNone/>
            </a:pPr>
            <a:r>
              <a:rPr lang="en-US" sz="2400" b="1" dirty="0">
                <a:solidFill>
                  <a:srgbClr val="1B2430"/>
                </a:solidFill>
              </a:rPr>
              <a:t>59 / 59</a:t>
            </a:r>
            <a:endParaRPr lang="en-US" sz="2400" dirty="0"/>
          </a:p>
        </p:txBody>
      </p:sp>
      <p:sp>
        <p:nvSpPr>
          <p:cNvPr id="14" name="val label 2"/>
          <p:cNvSpPr txBox="1"/>
          <p:nvPr/>
        </p:nvSpPr>
        <p:spPr>
          <a:xfrm>
            <a:off x="6748272" y="4617720"/>
            <a:ext cx="2103120" cy="868680"/>
          </a:xfrm>
          <a:prstGeom prst="rect">
            <a:avLst/>
          </a:prstGeom>
          <a:noFill/>
          <a:ln/>
        </p:spPr>
        <p:txBody>
          <a:bodyPr wrap="square" lIns="0" tIns="0" rIns="0" bIns="0" rtlCol="0" anchor="t"/>
          <a:lstStyle/>
          <a:p>
            <a:pPr indent="0" marL="0">
              <a:buNone/>
            </a:pPr>
            <a:r>
              <a:rPr lang="en-US" sz="1300" dirty="0">
                <a:solidFill>
                  <a:srgbClr val="5B6470"/>
                </a:solidFill>
              </a:rPr>
              <a:t>unit tests pass</a:t>
            </a:r>
            <a:endParaRPr lang="en-US" sz="1300" dirty="0"/>
          </a:p>
        </p:txBody>
      </p:sp>
      <p:sp>
        <p:nvSpPr>
          <p:cNvPr id="15" name="val tile 3"/>
          <p:cNvSpPr/>
          <p:nvPr/>
        </p:nvSpPr>
        <p:spPr>
          <a:xfrm>
            <a:off x="9144000" y="3794760"/>
            <a:ext cx="2377440" cy="1783080"/>
          </a:xfrm>
          <a:prstGeom prst="roundRect">
            <a:avLst>
              <a:gd name="adj" fmla="val 4103"/>
            </a:avLst>
          </a:prstGeom>
          <a:solidFill>
            <a:srgbClr val="EEF1F5"/>
          </a:solidFill>
          <a:ln w="6350">
            <a:solidFill>
              <a:srgbClr val="EEF1F5"/>
            </a:solidFill>
            <a:prstDash val="solid"/>
          </a:ln>
        </p:spPr>
      </p:sp>
      <p:sp>
        <p:nvSpPr>
          <p:cNvPr id="16" name="val value 3"/>
          <p:cNvSpPr txBox="1"/>
          <p:nvPr/>
        </p:nvSpPr>
        <p:spPr>
          <a:xfrm>
            <a:off x="9308592" y="3977640"/>
            <a:ext cx="2103120" cy="548640"/>
          </a:xfrm>
          <a:prstGeom prst="rect">
            <a:avLst/>
          </a:prstGeom>
          <a:noFill/>
          <a:ln/>
        </p:spPr>
        <p:txBody>
          <a:bodyPr wrap="square" lIns="0" tIns="0" rIns="0" bIns="0" rtlCol="0" anchor="t"/>
          <a:lstStyle/>
          <a:p>
            <a:pPr indent="0" marL="0">
              <a:buNone/>
            </a:pPr>
            <a:r>
              <a:rPr lang="en-US" sz="2400" b="1" dirty="0">
                <a:solidFill>
                  <a:srgbClr val="1B2430"/>
                </a:solidFill>
              </a:rPr>
              <a:t>identical</a:t>
            </a:r>
            <a:endParaRPr lang="en-US" sz="2400" dirty="0"/>
          </a:p>
        </p:txBody>
      </p:sp>
      <p:sp>
        <p:nvSpPr>
          <p:cNvPr id="17" name="val label 3"/>
          <p:cNvSpPr txBox="1"/>
          <p:nvPr/>
        </p:nvSpPr>
        <p:spPr>
          <a:xfrm>
            <a:off x="9308592" y="4617720"/>
            <a:ext cx="2103120" cy="868680"/>
          </a:xfrm>
          <a:prstGeom prst="rect">
            <a:avLst/>
          </a:prstGeom>
          <a:noFill/>
          <a:ln/>
        </p:spPr>
        <p:txBody>
          <a:bodyPr wrap="square" lIns="0" tIns="0" rIns="0" bIns="0" rtlCol="0" anchor="t"/>
          <a:lstStyle/>
          <a:p>
            <a:pPr indent="0" marL="0">
              <a:buNone/>
            </a:pPr>
            <a:r>
              <a:rPr lang="en-US" sz="1300" dirty="0">
                <a:solidFill>
                  <a:srgbClr val="5B6470"/>
                </a:solidFill>
              </a:rPr>
              <a:t>per-request records on rerun (SHA-256)</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Predictive SJF cuts mean JCT by 45% at 80% load</a:t>
            </a:r>
            <a:endParaRPr lang="en-US" sz="3000" dirty="0"/>
          </a:p>
        </p:txBody>
      </p:sp>
      <p:graphicFrame>
        <p:nvGraphicFramePr>
          <p:cNvPr id="4" name="mean jct chart" descr=""/>
          <p:cNvGraphicFramePr/>
          <p:nvPr/>
        </p:nvGraphicFramePr>
        <p:xfrm>
          <a:off x="548640" y="1325880"/>
          <a:ext cx="7040880" cy="4892040"/>
        </p:xfrm>
        <a:graphic xmlns:a="http://schemas.openxmlformats.org/drawingml/2006/main">
          <a:graphicData uri="http://schemas.openxmlformats.org/drawingml/2006/chart">
            <c:chart xmlns:c="http://schemas.openxmlformats.org/drawingml/2006/chart" r:id="rId1"/>
          </a:graphicData>
        </a:graphic>
      </p:graphicFrame>
      <p:sp>
        <p:nvSpPr>
          <p:cNvPr id="5" name="stat jct card"/>
          <p:cNvSpPr/>
          <p:nvPr/>
        </p:nvSpPr>
        <p:spPr>
          <a:xfrm>
            <a:off x="7955280" y="1371600"/>
            <a:ext cx="3657600" cy="1024128"/>
          </a:xfrm>
          <a:prstGeom prst="roundRect">
            <a:avLst>
              <a:gd name="adj" fmla="val 7143"/>
            </a:avLst>
          </a:prstGeom>
          <a:solidFill>
            <a:srgbClr val="EEF1F5"/>
          </a:solidFill>
          <a:ln w="6350">
            <a:solidFill>
              <a:srgbClr val="EEF1F5"/>
            </a:solidFill>
            <a:prstDash val="solid"/>
          </a:ln>
        </p:spPr>
      </p:sp>
      <p:sp>
        <p:nvSpPr>
          <p:cNvPr id="6" name="stat jct value"/>
          <p:cNvSpPr txBox="1"/>
          <p:nvPr/>
        </p:nvSpPr>
        <p:spPr>
          <a:xfrm>
            <a:off x="8138160" y="1463040"/>
            <a:ext cx="3291840" cy="502920"/>
          </a:xfrm>
          <a:prstGeom prst="rect">
            <a:avLst/>
          </a:prstGeom>
          <a:noFill/>
          <a:ln/>
        </p:spPr>
        <p:txBody>
          <a:bodyPr wrap="square" lIns="0" tIns="0" rIns="0" bIns="0" rtlCol="0" anchor="t"/>
          <a:lstStyle/>
          <a:p>
            <a:pPr indent="0" marL="0">
              <a:buNone/>
            </a:pPr>
            <a:r>
              <a:rPr lang="en-US" sz="2800" b="1" dirty="0">
                <a:solidFill>
                  <a:srgbClr val="EB6834"/>
                </a:solidFill>
              </a:rPr>
              <a:t>−44.6%</a:t>
            </a:r>
            <a:endParaRPr lang="en-US" sz="2800" dirty="0"/>
          </a:p>
        </p:txBody>
      </p:sp>
      <p:sp>
        <p:nvSpPr>
          <p:cNvPr id="7" name="stat jct label"/>
          <p:cNvSpPr txBox="1"/>
          <p:nvPr/>
        </p:nvSpPr>
        <p:spPr>
          <a:xfrm>
            <a:off x="8138160" y="1956816"/>
            <a:ext cx="3291840" cy="384048"/>
          </a:xfrm>
          <a:prstGeom prst="rect">
            <a:avLst/>
          </a:prstGeom>
          <a:noFill/>
          <a:ln/>
        </p:spPr>
        <p:txBody>
          <a:bodyPr wrap="square" lIns="0" tIns="0" rIns="0" bIns="0" rtlCol="0" anchor="t"/>
          <a:lstStyle/>
          <a:p>
            <a:pPr indent="0" marL="0">
              <a:buNone/>
            </a:pPr>
            <a:r>
              <a:rPr lang="en-US" sz="1300" dirty="0">
                <a:solidFill>
                  <a:srgbClr val="5B6470"/>
                </a:solidFill>
              </a:rPr>
              <a:t>mean JCT at ρ = 0.8 [43.0, 46.1], better on 10/10 seeds</a:t>
            </a:r>
            <a:endParaRPr lang="en-US" sz="1300" dirty="0"/>
          </a:p>
        </p:txBody>
      </p:sp>
      <p:sp>
        <p:nvSpPr>
          <p:cNvPr id="8" name="stat ttft card"/>
          <p:cNvSpPr/>
          <p:nvPr/>
        </p:nvSpPr>
        <p:spPr>
          <a:xfrm>
            <a:off x="7955280" y="2560320"/>
            <a:ext cx="3657600" cy="1024128"/>
          </a:xfrm>
          <a:prstGeom prst="roundRect">
            <a:avLst>
              <a:gd name="adj" fmla="val 7143"/>
            </a:avLst>
          </a:prstGeom>
          <a:solidFill>
            <a:srgbClr val="EEF1F5"/>
          </a:solidFill>
          <a:ln w="6350">
            <a:solidFill>
              <a:srgbClr val="EEF1F5"/>
            </a:solidFill>
            <a:prstDash val="solid"/>
          </a:ln>
        </p:spPr>
      </p:sp>
      <p:sp>
        <p:nvSpPr>
          <p:cNvPr id="9" name="stat ttft value"/>
          <p:cNvSpPr txBox="1"/>
          <p:nvPr/>
        </p:nvSpPr>
        <p:spPr>
          <a:xfrm>
            <a:off x="8138160" y="2651760"/>
            <a:ext cx="3291840" cy="502920"/>
          </a:xfrm>
          <a:prstGeom prst="rect">
            <a:avLst/>
          </a:prstGeom>
          <a:noFill/>
          <a:ln/>
        </p:spPr>
        <p:txBody>
          <a:bodyPr wrap="square" lIns="0" tIns="0" rIns="0" bIns="0" rtlCol="0" anchor="t"/>
          <a:lstStyle/>
          <a:p>
            <a:pPr indent="0" marL="0">
              <a:buNone/>
            </a:pPr>
            <a:r>
              <a:rPr lang="en-US" sz="2800" b="1" dirty="0">
                <a:solidFill>
                  <a:srgbClr val="1B2430"/>
                </a:solidFill>
              </a:rPr>
              <a:t>−52.5%</a:t>
            </a:r>
            <a:endParaRPr lang="en-US" sz="2800" dirty="0"/>
          </a:p>
        </p:txBody>
      </p:sp>
      <p:sp>
        <p:nvSpPr>
          <p:cNvPr id="10" name="stat ttft label"/>
          <p:cNvSpPr txBox="1"/>
          <p:nvPr/>
        </p:nvSpPr>
        <p:spPr>
          <a:xfrm>
            <a:off x="8138160" y="3145536"/>
            <a:ext cx="3291840" cy="384048"/>
          </a:xfrm>
          <a:prstGeom prst="rect">
            <a:avLst/>
          </a:prstGeom>
          <a:noFill/>
          <a:ln/>
        </p:spPr>
        <p:txBody>
          <a:bodyPr wrap="square" lIns="0" tIns="0" rIns="0" bIns="0" rtlCol="0" anchor="t"/>
          <a:lstStyle/>
          <a:p>
            <a:pPr indent="0" marL="0">
              <a:buNone/>
            </a:pPr>
            <a:r>
              <a:rPr lang="en-US" sz="1300" dirty="0">
                <a:solidFill>
                  <a:srgbClr val="5B6470"/>
                </a:solidFill>
              </a:rPr>
              <a:t>mean time to first token at ρ = 0.8</a:t>
            </a:r>
            <a:endParaRPr lang="en-US" sz="1300" dirty="0"/>
          </a:p>
        </p:txBody>
      </p:sp>
      <p:sp>
        <p:nvSpPr>
          <p:cNvPr id="11" name="stat p95 card"/>
          <p:cNvSpPr/>
          <p:nvPr/>
        </p:nvSpPr>
        <p:spPr>
          <a:xfrm>
            <a:off x="7955280" y="3749040"/>
            <a:ext cx="3657600" cy="1024128"/>
          </a:xfrm>
          <a:prstGeom prst="roundRect">
            <a:avLst>
              <a:gd name="adj" fmla="val 7143"/>
            </a:avLst>
          </a:prstGeom>
          <a:solidFill>
            <a:srgbClr val="EEF1F5"/>
          </a:solidFill>
          <a:ln w="6350">
            <a:solidFill>
              <a:srgbClr val="EEF1F5"/>
            </a:solidFill>
            <a:prstDash val="solid"/>
          </a:ln>
        </p:spPr>
      </p:sp>
      <p:sp>
        <p:nvSpPr>
          <p:cNvPr id="12" name="stat p95 value"/>
          <p:cNvSpPr txBox="1"/>
          <p:nvPr/>
        </p:nvSpPr>
        <p:spPr>
          <a:xfrm>
            <a:off x="8138160" y="3840480"/>
            <a:ext cx="3291840" cy="502920"/>
          </a:xfrm>
          <a:prstGeom prst="rect">
            <a:avLst/>
          </a:prstGeom>
          <a:noFill/>
          <a:ln/>
        </p:spPr>
        <p:txBody>
          <a:bodyPr wrap="square" lIns="0" tIns="0" rIns="0" bIns="0" rtlCol="0" anchor="t"/>
          <a:lstStyle/>
          <a:p>
            <a:pPr indent="0" marL="0">
              <a:buNone/>
            </a:pPr>
            <a:r>
              <a:rPr lang="en-US" sz="2800" b="1" dirty="0">
                <a:solidFill>
                  <a:srgbClr val="1B2430"/>
                </a:solidFill>
              </a:rPr>
              <a:t>−40.6%</a:t>
            </a:r>
            <a:endParaRPr lang="en-US" sz="2800" dirty="0"/>
          </a:p>
        </p:txBody>
      </p:sp>
      <p:sp>
        <p:nvSpPr>
          <p:cNvPr id="13" name="stat p95 label"/>
          <p:cNvSpPr txBox="1"/>
          <p:nvPr/>
        </p:nvSpPr>
        <p:spPr>
          <a:xfrm>
            <a:off x="8138160" y="4334256"/>
            <a:ext cx="3291840" cy="384048"/>
          </a:xfrm>
          <a:prstGeom prst="rect">
            <a:avLst/>
          </a:prstGeom>
          <a:noFill/>
          <a:ln/>
        </p:spPr>
        <p:txBody>
          <a:bodyPr wrap="square" lIns="0" tIns="0" rIns="0" bIns="0" rtlCol="0" anchor="t"/>
          <a:lstStyle/>
          <a:p>
            <a:pPr indent="0" marL="0">
              <a:buNone/>
            </a:pPr>
            <a:r>
              <a:rPr lang="en-US" sz="1300" dirty="0">
                <a:solidFill>
                  <a:srgbClr val="5B6470"/>
                </a:solidFill>
              </a:rPr>
              <a:t>P95 JCT at ρ = 0.8</a:t>
            </a:r>
            <a:endParaRPr lang="en-US" sz="1300" dirty="0"/>
          </a:p>
        </p:txBody>
      </p:sp>
      <p:sp>
        <p:nvSpPr>
          <p:cNvPr id="14" name="stat tput card"/>
          <p:cNvSpPr/>
          <p:nvPr/>
        </p:nvSpPr>
        <p:spPr>
          <a:xfrm>
            <a:off x="7955280" y="4937760"/>
            <a:ext cx="3657600" cy="1024128"/>
          </a:xfrm>
          <a:prstGeom prst="roundRect">
            <a:avLst>
              <a:gd name="adj" fmla="val 7143"/>
            </a:avLst>
          </a:prstGeom>
          <a:solidFill>
            <a:srgbClr val="EEF1F5"/>
          </a:solidFill>
          <a:ln w="6350">
            <a:solidFill>
              <a:srgbClr val="EEF1F5"/>
            </a:solidFill>
            <a:prstDash val="solid"/>
          </a:ln>
        </p:spPr>
      </p:sp>
      <p:sp>
        <p:nvSpPr>
          <p:cNvPr id="15" name="stat tput value"/>
          <p:cNvSpPr txBox="1"/>
          <p:nvPr/>
        </p:nvSpPr>
        <p:spPr>
          <a:xfrm>
            <a:off x="8138160" y="5029200"/>
            <a:ext cx="3291840" cy="502920"/>
          </a:xfrm>
          <a:prstGeom prst="rect">
            <a:avLst/>
          </a:prstGeom>
          <a:noFill/>
          <a:ln/>
        </p:spPr>
        <p:txBody>
          <a:bodyPr wrap="square" lIns="0" tIns="0" rIns="0" bIns="0" rtlCol="0" anchor="t"/>
          <a:lstStyle/>
          <a:p>
            <a:pPr indent="0" marL="0">
              <a:buNone/>
            </a:pPr>
            <a:r>
              <a:rPr lang="en-US" sz="2800" b="1" dirty="0">
                <a:solidFill>
                  <a:srgbClr val="1B2430"/>
                </a:solidFill>
              </a:rPr>
              <a:t>0.0%</a:t>
            </a:r>
            <a:endParaRPr lang="en-US" sz="2800" dirty="0"/>
          </a:p>
        </p:txBody>
      </p:sp>
      <p:sp>
        <p:nvSpPr>
          <p:cNvPr id="16" name="stat tput label"/>
          <p:cNvSpPr txBox="1"/>
          <p:nvPr/>
        </p:nvSpPr>
        <p:spPr>
          <a:xfrm>
            <a:off x="8138160" y="5522976"/>
            <a:ext cx="3291840" cy="384048"/>
          </a:xfrm>
          <a:prstGeom prst="rect">
            <a:avLst/>
          </a:prstGeom>
          <a:noFill/>
          <a:ln/>
        </p:spPr>
        <p:txBody>
          <a:bodyPr wrap="square" lIns="0" tIns="0" rIns="0" bIns="0" rtlCol="0" anchor="t"/>
          <a:lstStyle/>
          <a:p>
            <a:pPr indent="0" marL="0">
              <a:buNone/>
            </a:pPr>
            <a:r>
              <a:rPr lang="en-US" sz="1300" dirty="0">
                <a:solidFill>
                  <a:srgbClr val="5B6470"/>
                </a:solidFill>
              </a:rPr>
              <a:t>throughput change: both policies keep the slot busy</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Gains follow ranking quality and size variability</a:t>
            </a:r>
            <a:endParaRPr lang="en-US" sz="3000" dirty="0"/>
          </a:p>
        </p:txBody>
      </p:sp>
      <p:graphicFrame>
        <p:nvGraphicFramePr>
          <p:cNvPr id="4" name="predictor chart" descr=""/>
          <p:cNvGraphicFramePr/>
          <p:nvPr/>
        </p:nvGraphicFramePr>
        <p:xfrm>
          <a:off x="548640" y="1325880"/>
          <a:ext cx="649224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mix chart" descr=""/>
          <p:cNvGraphicFramePr/>
          <p:nvPr/>
        </p:nvGraphicFramePr>
        <p:xfrm>
          <a:off x="7315200" y="1325880"/>
          <a:ext cx="4297680" cy="4114800"/>
        </p:xfrm>
        <a:graphic xmlns:a="http://schemas.openxmlformats.org/drawingml/2006/main">
          <a:graphicData uri="http://schemas.openxmlformats.org/drawingml/2006/chart">
            <c:chart xmlns:c="http://schemas.openxmlformats.org/drawingml/2006/chart" r:id="rId2"/>
          </a:graphicData>
        </a:graphic>
      </p:graphicFrame>
      <p:sp>
        <p:nvSpPr>
          <p:cNvPr id="6" name="sensitivity takeaway"/>
          <p:cNvSpPr txBox="1"/>
          <p:nvPr/>
        </p:nvSpPr>
        <p:spPr>
          <a:xfrm>
            <a:off x="548640" y="5486400"/>
            <a:ext cx="11064240" cy="566928"/>
          </a:xfrm>
          <a:prstGeom prst="rect">
            <a:avLst/>
          </a:prstGeom>
          <a:noFill/>
          <a:ln/>
        </p:spPr>
        <p:txBody>
          <a:bodyPr wrap="square" lIns="0" tIns="0" rIns="0" bIns="0" rtlCol="0" anchor="t"/>
          <a:lstStyle/>
          <a:p>
            <a:pPr indent="0" marL="0">
              <a:buNone/>
            </a:pPr>
            <a:r>
              <a:rPr lang="en-US" sz="1400" dirty="0">
                <a:solidFill>
                  <a:srgbClr val="1B2430"/>
                </a:solidFill>
              </a:rPr>
              <a:t>Random predictions give FCFS's mean (+0.8%, CI includes 0).</a:t>
            </a:r>
            <a:endParaRPr lang="en-US" sz="1400" dirty="0"/>
          </a:p>
          <a:p>
            <a:pPr indent="0" marL="0">
              <a:buNone/>
            </a:pPr>
            <a:r>
              <a:rPr lang="en-US" sz="1400" dirty="0">
                <a:solidFill>
                  <a:srgbClr val="1B2430"/>
                </a:solidFill>
              </a:rPr>
              <a:t>Prompt length correlates positively (0.36) yet is 9.5% worse than FCFS: it promotes long‑form answers.</a:t>
            </a:r>
            <a:endParaRPr lang="en-US" sz="1400" dirty="0"/>
          </a:p>
        </p:txBody>
      </p:sp>
      <p:sp>
        <p:nvSpPr>
          <p:cNvPr id="7" name="ref footnote"/>
          <p:cNvSpPr txBox="1"/>
          <p:nvPr/>
        </p:nvSpPr>
        <p:spPr>
          <a:xfrm>
            <a:off x="548640" y="6108192"/>
            <a:ext cx="5486400" cy="237744"/>
          </a:xfrm>
          <a:prstGeom prst="rect">
            <a:avLst/>
          </a:prstGeom>
          <a:noFill/>
          <a:ln/>
        </p:spPr>
        <p:txBody>
          <a:bodyPr wrap="square" lIns="0" tIns="0" rIns="0" bIns="0" rtlCol="0" anchor="t"/>
          <a:lstStyle/>
          <a:p>
            <a:pPr indent="0" marL="0">
              <a:buNone/>
            </a:pPr>
            <a:r>
              <a:rPr lang="en-US" sz="1000" dirty="0">
                <a:solidFill>
                  <a:srgbClr val="5B6470"/>
                </a:solidFill>
              </a:rPr>
              <a:t>* reference: reads the true length; not deployable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Long requests pay for the gain</a:t>
            </a:r>
            <a:endParaRPr lang="en-US" sz="3000" dirty="0"/>
          </a:p>
        </p:txBody>
      </p:sp>
      <p:graphicFrame>
        <p:nvGraphicFramePr>
          <p:cNvPr id="4" name="wait by category chart" descr=""/>
          <p:cNvGraphicFramePr/>
          <p:nvPr/>
        </p:nvGraphicFramePr>
        <p:xfrm>
          <a:off x="548640" y="1325880"/>
          <a:ext cx="60350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max wait chart" descr=""/>
          <p:cNvGraphicFramePr/>
          <p:nvPr/>
        </p:nvGraphicFramePr>
        <p:xfrm>
          <a:off x="6858000" y="1325880"/>
          <a:ext cx="4754880" cy="3520440"/>
        </p:xfrm>
        <a:graphic xmlns:a="http://schemas.openxmlformats.org/drawingml/2006/main">
          <a:graphicData uri="http://schemas.openxmlformats.org/drawingml/2006/chart">
            <c:chart xmlns:c="http://schemas.openxmlformats.org/drawingml/2006/chart" r:id="rId2"/>
          </a:graphicData>
        </a:graphic>
      </p:graphicFrame>
      <p:sp>
        <p:nvSpPr>
          <p:cNvPr id="6" name="fair call 0"/>
          <p:cNvSpPr/>
          <p:nvPr/>
        </p:nvSpPr>
        <p:spPr>
          <a:xfrm>
            <a:off x="548640" y="5074920"/>
            <a:ext cx="3566160" cy="1143000"/>
          </a:xfrm>
          <a:prstGeom prst="roundRect">
            <a:avLst>
              <a:gd name="adj" fmla="val 6400"/>
            </a:avLst>
          </a:prstGeom>
          <a:solidFill>
            <a:srgbClr val="EEF1F5"/>
          </a:solidFill>
          <a:ln w="6350">
            <a:solidFill>
              <a:srgbClr val="EEF1F5"/>
            </a:solidFill>
            <a:prstDash val="solid"/>
          </a:ln>
        </p:spPr>
      </p:sp>
      <p:sp>
        <p:nvSpPr>
          <p:cNvPr id="7" name="fair badge 0"/>
          <p:cNvSpPr/>
          <p:nvPr/>
        </p:nvSpPr>
        <p:spPr>
          <a:xfrm>
            <a:off x="685800" y="5212080"/>
            <a:ext cx="329184" cy="329184"/>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fair text 0"/>
          <p:cNvSpPr txBox="1"/>
          <p:nvPr/>
        </p:nvSpPr>
        <p:spPr>
          <a:xfrm>
            <a:off x="1115568" y="5138928"/>
            <a:ext cx="2880360" cy="1005840"/>
          </a:xfrm>
          <a:prstGeom prst="rect">
            <a:avLst/>
          </a:prstGeom>
          <a:noFill/>
          <a:ln/>
        </p:spPr>
        <p:txBody>
          <a:bodyPr wrap="square" lIns="0" tIns="0" rIns="0" bIns="0" rtlCol="0" anchor="ctr"/>
          <a:lstStyle/>
          <a:p>
            <a:pPr indent="0" marL="0">
              <a:buNone/>
            </a:pPr>
            <a:r>
              <a:rPr lang="en-US" sz="1400" dirty="0">
                <a:solidFill>
                  <a:srgbClr val="1B2430"/>
                </a:solidFill>
              </a:rPr>
              <a:t>P99 JCT worse than FCFS at ρ ≥ 0.9 with heuristic: -40.5%, -92.2%</a:t>
            </a:r>
            <a:endParaRPr lang="en-US" sz="1400" dirty="0"/>
          </a:p>
        </p:txBody>
      </p:sp>
      <p:sp>
        <p:nvSpPr>
          <p:cNvPr id="9" name="fair call 1"/>
          <p:cNvSpPr/>
          <p:nvPr/>
        </p:nvSpPr>
        <p:spPr>
          <a:xfrm>
            <a:off x="4297680" y="5074920"/>
            <a:ext cx="3566160" cy="1143000"/>
          </a:xfrm>
          <a:prstGeom prst="roundRect">
            <a:avLst>
              <a:gd name="adj" fmla="val 6400"/>
            </a:avLst>
          </a:prstGeom>
          <a:solidFill>
            <a:srgbClr val="EEF1F5"/>
          </a:solidFill>
          <a:ln w="6350">
            <a:solidFill>
              <a:srgbClr val="EEF1F5"/>
            </a:solidFill>
            <a:prstDash val="solid"/>
          </a:ln>
        </p:spPr>
      </p:sp>
      <p:sp>
        <p:nvSpPr>
          <p:cNvPr id="10" name="fair badge 1"/>
          <p:cNvSpPr/>
          <p:nvPr/>
        </p:nvSpPr>
        <p:spPr>
          <a:xfrm>
            <a:off x="4434840" y="5212080"/>
            <a:ext cx="329184" cy="329184"/>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fair text 1"/>
          <p:cNvSpPr txBox="1"/>
          <p:nvPr/>
        </p:nvSpPr>
        <p:spPr>
          <a:xfrm>
            <a:off x="4864608" y="5138928"/>
            <a:ext cx="2880360" cy="1005840"/>
          </a:xfrm>
          <a:prstGeom prst="rect">
            <a:avLst/>
          </a:prstGeom>
          <a:noFill/>
          <a:ln/>
        </p:spPr>
        <p:txBody>
          <a:bodyPr wrap="square" lIns="0" tIns="0" rIns="0" bIns="0" rtlCol="0" anchor="ctr"/>
          <a:lstStyle/>
          <a:p>
            <a:pPr indent="0" marL="0">
              <a:buNone/>
            </a:pPr>
            <a:r>
              <a:rPr lang="en-US" sz="1400" dirty="0">
                <a:solidFill>
                  <a:srgbClr val="1B2430"/>
                </a:solidFill>
              </a:rPr>
              <a:t>60.8 requests per seed wait longer than FCFS's worst case; 4.7 are mispredicted medium ones</a:t>
            </a:r>
            <a:endParaRPr lang="en-US" sz="1400" dirty="0"/>
          </a:p>
        </p:txBody>
      </p:sp>
      <p:sp>
        <p:nvSpPr>
          <p:cNvPr id="12" name="fair call 2"/>
          <p:cNvSpPr/>
          <p:nvPr/>
        </p:nvSpPr>
        <p:spPr>
          <a:xfrm>
            <a:off x="8046720" y="5074920"/>
            <a:ext cx="3566160" cy="1143000"/>
          </a:xfrm>
          <a:prstGeom prst="roundRect">
            <a:avLst>
              <a:gd name="adj" fmla="val 6400"/>
            </a:avLst>
          </a:prstGeom>
          <a:solidFill>
            <a:srgbClr val="EEF1F5"/>
          </a:solidFill>
          <a:ln w="6350">
            <a:solidFill>
              <a:srgbClr val="EEF1F5"/>
            </a:solidFill>
            <a:prstDash val="solid"/>
          </a:ln>
        </p:spPr>
      </p:sp>
      <p:sp>
        <p:nvSpPr>
          <p:cNvPr id="13" name="fair badge 2"/>
          <p:cNvSpPr/>
          <p:nvPr/>
        </p:nvSpPr>
        <p:spPr>
          <a:xfrm>
            <a:off x="8183880" y="5212080"/>
            <a:ext cx="329184" cy="329184"/>
          </a:xfrm>
          <a:prstGeom prst="ellipse">
            <a:avLst/>
          </a:prstGeom>
          <a:solidFill>
            <a:srgbClr val="2A78D6"/>
          </a:solidFill>
          <a:ln>
            <a:solidFill>
              <a:srgbClr val="2A78D6"/>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fair text 2"/>
          <p:cNvSpPr txBox="1"/>
          <p:nvPr/>
        </p:nvSpPr>
        <p:spPr>
          <a:xfrm>
            <a:off x="8613648" y="5138928"/>
            <a:ext cx="2880360" cy="1005840"/>
          </a:xfrm>
          <a:prstGeom prst="rect">
            <a:avLst/>
          </a:prstGeom>
          <a:noFill/>
          <a:ln/>
        </p:spPr>
        <p:txBody>
          <a:bodyPr wrap="square" lIns="0" tIns="0" rIns="0" bIns="0" rtlCol="0" anchor="ctr"/>
          <a:lstStyle/>
          <a:p>
            <a:pPr indent="0" marL="0">
              <a:buNone/>
            </a:pPr>
            <a:r>
              <a:rPr lang="en-US" sz="1400" dirty="0">
                <a:solidFill>
                  <a:srgbClr val="1B2430"/>
                </a:solidFill>
              </a:rPr>
              <a:t>By slowdown, FCFS is less fair: short requests wait 113× their service time vs 14×</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Extension: aging trades mean JCT for worst-case wait</a:t>
            </a:r>
            <a:endParaRPr lang="en-US" sz="3000" dirty="0"/>
          </a:p>
        </p:txBody>
      </p:sp>
      <p:graphicFrame>
        <p:nvGraphicFramePr>
          <p:cNvPr id="4" name="aging gain chart" descr=""/>
          <p:cNvGraphicFramePr/>
          <p:nvPr/>
        </p:nvGraphicFramePr>
        <p:xfrm>
          <a:off x="548640" y="1325880"/>
          <a:ext cx="54406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aging max chart" descr=""/>
          <p:cNvGraphicFramePr/>
          <p:nvPr/>
        </p:nvGraphicFramePr>
        <p:xfrm>
          <a:off x="6172200" y="1325880"/>
          <a:ext cx="5440680" cy="3840480"/>
        </p:xfrm>
        <a:graphic xmlns:a="http://schemas.openxmlformats.org/drawingml/2006/main">
          <a:graphicData uri="http://schemas.openxmlformats.org/drawingml/2006/chart">
            <c:chart xmlns:c="http://schemas.openxmlformats.org/drawingml/2006/chart" r:id="rId2"/>
          </a:graphicData>
        </a:graphic>
      </p:graphicFrame>
      <p:sp>
        <p:nvSpPr>
          <p:cNvPr id="6" name="aging takeaway card"/>
          <p:cNvSpPr/>
          <p:nvPr/>
        </p:nvSpPr>
        <p:spPr>
          <a:xfrm>
            <a:off x="548640" y="5394960"/>
            <a:ext cx="11064240" cy="777240"/>
          </a:xfrm>
          <a:prstGeom prst="roundRect">
            <a:avLst>
              <a:gd name="adj" fmla="val 9412"/>
            </a:avLst>
          </a:prstGeom>
          <a:solidFill>
            <a:srgbClr val="EEF1F5"/>
          </a:solidFill>
          <a:ln w="6350">
            <a:solidFill>
              <a:srgbClr val="EEF1F5"/>
            </a:solidFill>
            <a:prstDash val="solid"/>
          </a:ln>
        </p:spPr>
      </p:sp>
      <p:sp>
        <p:nvSpPr>
          <p:cNvPr id="7" name="aging takeaway"/>
          <p:cNvSpPr txBox="1"/>
          <p:nvPr/>
        </p:nvSpPr>
        <p:spPr>
          <a:xfrm>
            <a:off x="777240" y="5468112"/>
            <a:ext cx="10607040" cy="640080"/>
          </a:xfrm>
          <a:prstGeom prst="rect">
            <a:avLst/>
          </a:prstGeom>
          <a:noFill/>
          <a:ln/>
        </p:spPr>
        <p:txBody>
          <a:bodyPr wrap="square" lIns="0" tIns="0" rIns="0" bIns="0" rtlCol="0" anchor="ctr"/>
          <a:lstStyle/>
          <a:p>
            <a:pPr indent="0" marL="0">
              <a:buNone/>
            </a:pPr>
            <a:r>
              <a:rPr lang="en-US" sz="1500" dirty="0">
                <a:solidFill>
                  <a:srgbClr val="1B2430"/>
                </a:solidFill>
              </a:rPr>
              <a:t>a = 1 keeps 96% of SJF's mean-JCT gain and cuts its worst-case wait by 37%. No tested rate reaches FCFS's worst case while keeping most of the gain.</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What these results do not show</a:t>
            </a:r>
            <a:endParaRPr lang="en-US" sz="3000" dirty="0"/>
          </a:p>
        </p:txBody>
      </p:sp>
      <p:sp>
        <p:nvSpPr>
          <p:cNvPr id="4" name="limit card 0"/>
          <p:cNvSpPr/>
          <p:nvPr/>
        </p:nvSpPr>
        <p:spPr>
          <a:xfrm>
            <a:off x="548640" y="1371600"/>
            <a:ext cx="5440680" cy="2148840"/>
          </a:xfrm>
          <a:prstGeom prst="roundRect">
            <a:avLst>
              <a:gd name="adj" fmla="val 3404"/>
            </a:avLst>
          </a:prstGeom>
          <a:solidFill>
            <a:srgbClr val="EEF1F5"/>
          </a:solidFill>
          <a:ln w="6350">
            <a:solidFill>
              <a:srgbClr val="EEF1F5"/>
            </a:solidFill>
            <a:prstDash val="solid"/>
          </a:ln>
        </p:spPr>
      </p:sp>
      <p:sp>
        <p:nvSpPr>
          <p:cNvPr id="5" name="limit badge 0"/>
          <p:cNvSpPr/>
          <p:nvPr/>
        </p:nvSpPr>
        <p:spPr>
          <a:xfrm>
            <a:off x="777240" y="1600200"/>
            <a:ext cx="384048" cy="38404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limit head 0"/>
          <p:cNvSpPr txBox="1"/>
          <p:nvPr/>
        </p:nvSpPr>
        <p:spPr>
          <a:xfrm>
            <a:off x="1325880" y="1618488"/>
            <a:ext cx="4480560" cy="365760"/>
          </a:xfrm>
          <a:prstGeom prst="rect">
            <a:avLst/>
          </a:prstGeom>
          <a:noFill/>
          <a:ln/>
        </p:spPr>
        <p:txBody>
          <a:bodyPr wrap="square" lIns="0" tIns="0" rIns="0" bIns="0" rtlCol="0" anchor="t"/>
          <a:lstStyle/>
          <a:p>
            <a:pPr indent="0" marL="0">
              <a:buNone/>
            </a:pPr>
            <a:r>
              <a:rPr lang="en-US" sz="1800" b="1" dirty="0">
                <a:solidFill>
                  <a:srgbClr val="1B2430"/>
                </a:solidFill>
              </a:rPr>
              <a:t>Simulator ≠ GPU server</a:t>
            </a:r>
            <a:endParaRPr lang="en-US" sz="1800" dirty="0"/>
          </a:p>
        </p:txBody>
      </p:sp>
      <p:sp>
        <p:nvSpPr>
          <p:cNvPr id="7" name="limit body 0"/>
          <p:cNvSpPr txBox="1"/>
          <p:nvPr/>
        </p:nvSpPr>
        <p:spPr>
          <a:xfrm>
            <a:off x="1325880" y="2148840"/>
            <a:ext cx="4434840" cy="1234440"/>
          </a:xfrm>
          <a:prstGeom prst="rect">
            <a:avLst/>
          </a:prstGeom>
          <a:noFill/>
          <a:ln/>
        </p:spPr>
        <p:txBody>
          <a:bodyPr wrap="square" lIns="0" tIns="0" rIns="0" bIns="0" rtlCol="0" anchor="t"/>
          <a:lstStyle/>
          <a:p>
            <a:pPr indent="0" marL="0">
              <a:buNone/>
            </a:pPr>
            <a:r>
              <a:rPr lang="en-US" sz="1600" dirty="0">
                <a:solidFill>
                  <a:srgbClr val="3A4654"/>
                </a:solidFill>
              </a:rPr>
              <a:t>One slot, no batching, no memory; assumed timing constants. Gains are likely overstated for continuously batched serving.</a:t>
            </a:r>
            <a:endParaRPr lang="en-US" sz="1600" dirty="0"/>
          </a:p>
        </p:txBody>
      </p:sp>
      <p:sp>
        <p:nvSpPr>
          <p:cNvPr id="8" name="limit card 1"/>
          <p:cNvSpPr/>
          <p:nvPr/>
        </p:nvSpPr>
        <p:spPr>
          <a:xfrm>
            <a:off x="6172200" y="1371600"/>
            <a:ext cx="5440680" cy="2148840"/>
          </a:xfrm>
          <a:prstGeom prst="roundRect">
            <a:avLst>
              <a:gd name="adj" fmla="val 3404"/>
            </a:avLst>
          </a:prstGeom>
          <a:solidFill>
            <a:srgbClr val="EEF1F5"/>
          </a:solidFill>
          <a:ln w="6350">
            <a:solidFill>
              <a:srgbClr val="EEF1F5"/>
            </a:solidFill>
            <a:prstDash val="solid"/>
          </a:ln>
        </p:spPr>
      </p:sp>
      <p:sp>
        <p:nvSpPr>
          <p:cNvPr id="9" name="limit badge 1"/>
          <p:cNvSpPr/>
          <p:nvPr/>
        </p:nvSpPr>
        <p:spPr>
          <a:xfrm>
            <a:off x="6400800" y="1600200"/>
            <a:ext cx="384048" cy="38404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limit head 1"/>
          <p:cNvSpPr txBox="1"/>
          <p:nvPr/>
        </p:nvSpPr>
        <p:spPr>
          <a:xfrm>
            <a:off x="6949440" y="1618488"/>
            <a:ext cx="4480560" cy="365760"/>
          </a:xfrm>
          <a:prstGeom prst="rect">
            <a:avLst/>
          </a:prstGeom>
          <a:noFill/>
          <a:ln/>
        </p:spPr>
        <p:txBody>
          <a:bodyPr wrap="square" lIns="0" tIns="0" rIns="0" bIns="0" rtlCol="0" anchor="t"/>
          <a:lstStyle/>
          <a:p>
            <a:pPr indent="0" marL="0">
              <a:buNone/>
            </a:pPr>
            <a:r>
              <a:rPr lang="en-US" sz="1800" b="1" dirty="0">
                <a:solidFill>
                  <a:srgbClr val="1B2430"/>
                </a:solidFill>
              </a:rPr>
              <a:t>Synthetic workload</a:t>
            </a:r>
            <a:endParaRPr lang="en-US" sz="1800" dirty="0"/>
          </a:p>
        </p:txBody>
      </p:sp>
      <p:sp>
        <p:nvSpPr>
          <p:cNvPr id="11" name="limit body 1"/>
          <p:cNvSpPr txBox="1"/>
          <p:nvPr/>
        </p:nvSpPr>
        <p:spPr>
          <a:xfrm>
            <a:off x="6949440" y="2148840"/>
            <a:ext cx="4434840" cy="1234440"/>
          </a:xfrm>
          <a:prstGeom prst="rect">
            <a:avLst/>
          </a:prstGeom>
          <a:noFill/>
          <a:ln/>
        </p:spPr>
        <p:txBody>
          <a:bodyPr wrap="square" lIns="0" tIns="0" rIns="0" bIns="0" rtlCol="0" anchor="t"/>
          <a:lstStyle/>
          <a:p>
            <a:pPr indent="0" marL="0">
              <a:buNone/>
            </a:pPr>
            <a:r>
              <a:rPr lang="en-US" sz="1600" dirty="0">
                <a:solidFill>
                  <a:srgbClr val="3A4654"/>
                </a:solidFill>
              </a:rPr>
              <a:t>No real prompts or traces. The heuristic uses the generator's own features, so its accuracy is optimistic.</a:t>
            </a:r>
            <a:endParaRPr lang="en-US" sz="1600" dirty="0"/>
          </a:p>
        </p:txBody>
      </p:sp>
      <p:sp>
        <p:nvSpPr>
          <p:cNvPr id="12" name="limit card 2"/>
          <p:cNvSpPr/>
          <p:nvPr/>
        </p:nvSpPr>
        <p:spPr>
          <a:xfrm>
            <a:off x="548640" y="3749040"/>
            <a:ext cx="5440680" cy="2148840"/>
          </a:xfrm>
          <a:prstGeom prst="roundRect">
            <a:avLst>
              <a:gd name="adj" fmla="val 3404"/>
            </a:avLst>
          </a:prstGeom>
          <a:solidFill>
            <a:srgbClr val="EEF1F5"/>
          </a:solidFill>
          <a:ln w="6350">
            <a:solidFill>
              <a:srgbClr val="EEF1F5"/>
            </a:solidFill>
            <a:prstDash val="solid"/>
          </a:ln>
        </p:spPr>
      </p:sp>
      <p:sp>
        <p:nvSpPr>
          <p:cNvPr id="13" name="limit badge 2"/>
          <p:cNvSpPr/>
          <p:nvPr/>
        </p:nvSpPr>
        <p:spPr>
          <a:xfrm>
            <a:off x="777240" y="3977640"/>
            <a:ext cx="384048" cy="38404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4" name="limit head 2"/>
          <p:cNvSpPr txBox="1"/>
          <p:nvPr/>
        </p:nvSpPr>
        <p:spPr>
          <a:xfrm>
            <a:off x="1325880" y="3995928"/>
            <a:ext cx="4480560" cy="365760"/>
          </a:xfrm>
          <a:prstGeom prst="rect">
            <a:avLst/>
          </a:prstGeom>
          <a:noFill/>
          <a:ln/>
        </p:spPr>
        <p:txBody>
          <a:bodyPr wrap="square" lIns="0" tIns="0" rIns="0" bIns="0" rtlCol="0" anchor="t"/>
          <a:lstStyle/>
          <a:p>
            <a:pPr indent="0" marL="0">
              <a:buNone/>
            </a:pPr>
            <a:r>
              <a:rPr lang="en-US" sz="1800" b="1" dirty="0">
                <a:solidFill>
                  <a:srgbClr val="1B2430"/>
                </a:solidFill>
              </a:rPr>
              <a:t>Missing mechanisms</a:t>
            </a:r>
            <a:endParaRPr lang="en-US" sz="1800" dirty="0"/>
          </a:p>
        </p:txBody>
      </p:sp>
      <p:sp>
        <p:nvSpPr>
          <p:cNvPr id="15" name="limit body 2"/>
          <p:cNvSpPr txBox="1"/>
          <p:nvPr/>
        </p:nvSpPr>
        <p:spPr>
          <a:xfrm>
            <a:off x="1325880" y="4526280"/>
            <a:ext cx="4434840" cy="1234440"/>
          </a:xfrm>
          <a:prstGeom prst="rect">
            <a:avLst/>
          </a:prstGeom>
          <a:noFill/>
          <a:ln/>
        </p:spPr>
        <p:txBody>
          <a:bodyPr wrap="square" lIns="0" tIns="0" rIns="0" bIns="0" rtlCol="0" anchor="t"/>
          <a:lstStyle/>
          <a:p>
            <a:pPr indent="0" marL="0">
              <a:buNone/>
            </a:pPr>
            <a:r>
              <a:rPr lang="en-US" sz="1600" dirty="0">
                <a:solidFill>
                  <a:srgbClr val="3A4654"/>
                </a:solidFill>
              </a:rPr>
              <a:t>No preemption, KV-cache or MLFQ: the latency vs preemption-overhead question (RQ6) is unanswered.</a:t>
            </a:r>
            <a:endParaRPr lang="en-US" sz="1600" dirty="0"/>
          </a:p>
        </p:txBody>
      </p:sp>
      <p:sp>
        <p:nvSpPr>
          <p:cNvPr id="16" name="limit card 3"/>
          <p:cNvSpPr/>
          <p:nvPr/>
        </p:nvSpPr>
        <p:spPr>
          <a:xfrm>
            <a:off x="6172200" y="3749040"/>
            <a:ext cx="5440680" cy="2148840"/>
          </a:xfrm>
          <a:prstGeom prst="roundRect">
            <a:avLst>
              <a:gd name="adj" fmla="val 3404"/>
            </a:avLst>
          </a:prstGeom>
          <a:solidFill>
            <a:srgbClr val="EEF1F5"/>
          </a:solidFill>
          <a:ln w="6350">
            <a:solidFill>
              <a:srgbClr val="EEF1F5"/>
            </a:solidFill>
            <a:prstDash val="solid"/>
          </a:ln>
        </p:spPr>
      </p:sp>
      <p:sp>
        <p:nvSpPr>
          <p:cNvPr id="17" name="limit badge 3"/>
          <p:cNvSpPr/>
          <p:nvPr/>
        </p:nvSpPr>
        <p:spPr>
          <a:xfrm>
            <a:off x="6400800" y="3977640"/>
            <a:ext cx="384048" cy="38404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limit head 3"/>
          <p:cNvSpPr txBox="1"/>
          <p:nvPr/>
        </p:nvSpPr>
        <p:spPr>
          <a:xfrm>
            <a:off x="6949440" y="3995928"/>
            <a:ext cx="4480560" cy="365760"/>
          </a:xfrm>
          <a:prstGeom prst="rect">
            <a:avLst/>
          </a:prstGeom>
          <a:noFill/>
          <a:ln/>
        </p:spPr>
        <p:txBody>
          <a:bodyPr wrap="square" lIns="0" tIns="0" rIns="0" bIns="0" rtlCol="0" anchor="t"/>
          <a:lstStyle/>
          <a:p>
            <a:pPr indent="0" marL="0">
              <a:buNone/>
            </a:pPr>
            <a:r>
              <a:rPr lang="en-US" sz="1800" b="1" dirty="0">
                <a:solidFill>
                  <a:srgbClr val="1B2430"/>
                </a:solidFill>
              </a:rPr>
              <a:t>Statistical limits</a:t>
            </a:r>
            <a:endParaRPr lang="en-US" sz="1800" dirty="0"/>
          </a:p>
        </p:txBody>
      </p:sp>
      <p:sp>
        <p:nvSpPr>
          <p:cNvPr id="19" name="limit body 3"/>
          <p:cNvSpPr txBox="1"/>
          <p:nvPr/>
        </p:nvSpPr>
        <p:spPr>
          <a:xfrm>
            <a:off x="6949440" y="4526280"/>
            <a:ext cx="4434840" cy="1234440"/>
          </a:xfrm>
          <a:prstGeom prst="rect">
            <a:avLst/>
          </a:prstGeom>
          <a:noFill/>
          <a:ln/>
        </p:spPr>
        <p:txBody>
          <a:bodyPr wrap="square" lIns="0" tIns="0" rIns="0" bIns="0" rtlCol="0" anchor="t"/>
          <a:lstStyle/>
          <a:p>
            <a:pPr indent="0" marL="0">
              <a:buNone/>
            </a:pPr>
            <a:r>
              <a:rPr lang="en-US" sz="1600" dirty="0">
                <a:solidFill>
                  <a:srgbClr val="3A4654"/>
                </a:solidFill>
              </a:rPr>
              <a:t>10 seeds per configuration; P99 and maxima are noisy; two analyses were post-hoc and are labelled.</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B2430"/>
                </a:solidFill>
              </a:rPr>
              <a:t>Next steps toward a real system</a:t>
            </a:r>
            <a:endParaRPr lang="en-US" sz="3000" dirty="0"/>
          </a:p>
        </p:txBody>
      </p:sp>
      <p:sp>
        <p:nvSpPr>
          <p:cNvPr id="4" name="step badge 0"/>
          <p:cNvSpPr/>
          <p:nvPr/>
        </p:nvSpPr>
        <p:spPr>
          <a:xfrm>
            <a:off x="1234440" y="1828800"/>
            <a:ext cx="566928" cy="56692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step arrow 0"/>
          <p:cNvSpPr/>
          <p:nvPr/>
        </p:nvSpPr>
        <p:spPr>
          <a:xfrm>
            <a:off x="1874520" y="2112264"/>
            <a:ext cx="1554480" cy="0"/>
          </a:xfrm>
          <a:prstGeom prst="line">
            <a:avLst/>
          </a:prstGeom>
          <a:noFill/>
          <a:ln w="19050">
            <a:solidFill>
              <a:srgbClr val="C3C9D1"/>
            </a:solidFill>
            <a:prstDash val="solid"/>
            <a:tailEnd type="triangle"/>
          </a:ln>
        </p:spPr>
      </p:sp>
      <p:sp>
        <p:nvSpPr>
          <p:cNvPr id="6" name="step card 0"/>
          <p:cNvSpPr/>
          <p:nvPr/>
        </p:nvSpPr>
        <p:spPr>
          <a:xfrm>
            <a:off x="548640" y="2697480"/>
            <a:ext cx="2011680" cy="2103120"/>
          </a:xfrm>
          <a:prstGeom prst="roundRect">
            <a:avLst>
              <a:gd name="adj" fmla="val 3636"/>
            </a:avLst>
          </a:prstGeom>
          <a:solidFill>
            <a:srgbClr val="EEF1F5"/>
          </a:solidFill>
          <a:ln w="6350">
            <a:solidFill>
              <a:srgbClr val="EEF1F5"/>
            </a:solidFill>
            <a:prstDash val="solid"/>
          </a:ln>
        </p:spPr>
      </p:sp>
      <p:sp>
        <p:nvSpPr>
          <p:cNvPr id="7" name="step head 0"/>
          <p:cNvSpPr txBox="1"/>
          <p:nvPr/>
        </p:nvSpPr>
        <p:spPr>
          <a:xfrm>
            <a:off x="713232" y="2834640"/>
            <a:ext cx="1691640" cy="640080"/>
          </a:xfrm>
          <a:prstGeom prst="rect">
            <a:avLst/>
          </a:prstGeom>
          <a:noFill/>
          <a:ln/>
        </p:spPr>
        <p:txBody>
          <a:bodyPr wrap="square" lIns="0" tIns="0" rIns="0" bIns="0" rtlCol="0" anchor="t"/>
          <a:lstStyle/>
          <a:p>
            <a:pPr indent="0" marL="0">
              <a:buNone/>
            </a:pPr>
            <a:r>
              <a:rPr lang="en-US" sz="1700" b="1" dirty="0">
                <a:solidFill>
                  <a:srgbClr val="1B2430"/>
                </a:solidFill>
              </a:rPr>
              <a:t>MLFQ + boost</a:t>
            </a:r>
            <a:endParaRPr lang="en-US" sz="1700" dirty="0"/>
          </a:p>
        </p:txBody>
      </p:sp>
      <p:sp>
        <p:nvSpPr>
          <p:cNvPr id="8" name="step body 0"/>
          <p:cNvSpPr txBox="1"/>
          <p:nvPr/>
        </p:nvSpPr>
        <p:spPr>
          <a:xfrm>
            <a:off x="713232" y="3520440"/>
            <a:ext cx="1691640" cy="1417320"/>
          </a:xfrm>
          <a:prstGeom prst="rect">
            <a:avLst/>
          </a:prstGeom>
          <a:noFill/>
          <a:ln/>
        </p:spPr>
        <p:txBody>
          <a:bodyPr wrap="square" lIns="0" tIns="0" rIns="0" bIns="0" rtlCol="0" anchor="t"/>
          <a:lstStyle/>
          <a:p>
            <a:pPr indent="0" marL="0">
              <a:buNone/>
            </a:pPr>
            <a:r>
              <a:rPr lang="en-US" sz="1400" dirty="0">
                <a:solidFill>
                  <a:srgbClr val="3A4654"/>
                </a:solidFill>
              </a:rPr>
              <a:t>demote by tokens vs prediction; periodic priority boost</a:t>
            </a:r>
            <a:endParaRPr lang="en-US" sz="1400" dirty="0"/>
          </a:p>
        </p:txBody>
      </p:sp>
      <p:sp>
        <p:nvSpPr>
          <p:cNvPr id="9" name="step badge 1"/>
          <p:cNvSpPr/>
          <p:nvPr/>
        </p:nvSpPr>
        <p:spPr>
          <a:xfrm>
            <a:off x="3502152" y="1828800"/>
            <a:ext cx="566928" cy="56692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step arrow 1"/>
          <p:cNvSpPr/>
          <p:nvPr/>
        </p:nvSpPr>
        <p:spPr>
          <a:xfrm>
            <a:off x="4142232" y="2112264"/>
            <a:ext cx="1554480" cy="0"/>
          </a:xfrm>
          <a:prstGeom prst="line">
            <a:avLst/>
          </a:prstGeom>
          <a:noFill/>
          <a:ln w="19050">
            <a:solidFill>
              <a:srgbClr val="C3C9D1"/>
            </a:solidFill>
            <a:prstDash val="solid"/>
            <a:tailEnd type="triangle"/>
          </a:ln>
        </p:spPr>
      </p:sp>
      <p:sp>
        <p:nvSpPr>
          <p:cNvPr id="11" name="step card 1"/>
          <p:cNvSpPr/>
          <p:nvPr/>
        </p:nvSpPr>
        <p:spPr>
          <a:xfrm>
            <a:off x="2816352" y="2697480"/>
            <a:ext cx="2011680" cy="2103120"/>
          </a:xfrm>
          <a:prstGeom prst="roundRect">
            <a:avLst>
              <a:gd name="adj" fmla="val 3636"/>
            </a:avLst>
          </a:prstGeom>
          <a:solidFill>
            <a:srgbClr val="EEF1F5"/>
          </a:solidFill>
          <a:ln w="6350">
            <a:solidFill>
              <a:srgbClr val="EEF1F5"/>
            </a:solidFill>
            <a:prstDash val="solid"/>
          </a:ln>
        </p:spPr>
      </p:sp>
      <p:sp>
        <p:nvSpPr>
          <p:cNvPr id="12" name="step head 1"/>
          <p:cNvSpPr txBox="1"/>
          <p:nvPr/>
        </p:nvSpPr>
        <p:spPr>
          <a:xfrm>
            <a:off x="2980944" y="2834640"/>
            <a:ext cx="1691640" cy="640080"/>
          </a:xfrm>
          <a:prstGeom prst="rect">
            <a:avLst/>
          </a:prstGeom>
          <a:noFill/>
          <a:ln/>
        </p:spPr>
        <p:txBody>
          <a:bodyPr wrap="square" lIns="0" tIns="0" rIns="0" bIns="0" rtlCol="0" anchor="t"/>
          <a:lstStyle/>
          <a:p>
            <a:pPr indent="0" marL="0">
              <a:buNone/>
            </a:pPr>
            <a:r>
              <a:rPr lang="en-US" sz="1700" b="1" dirty="0">
                <a:solidFill>
                  <a:srgbClr val="1B2430"/>
                </a:solidFill>
              </a:rPr>
              <a:t>Preemption</a:t>
            </a:r>
            <a:endParaRPr lang="en-US" sz="1700" dirty="0"/>
          </a:p>
        </p:txBody>
      </p:sp>
      <p:sp>
        <p:nvSpPr>
          <p:cNvPr id="13" name="step body 1"/>
          <p:cNvSpPr txBox="1"/>
          <p:nvPr/>
        </p:nvSpPr>
        <p:spPr>
          <a:xfrm>
            <a:off x="2980944" y="3520440"/>
            <a:ext cx="1691640" cy="1417320"/>
          </a:xfrm>
          <a:prstGeom prst="rect">
            <a:avLst/>
          </a:prstGeom>
          <a:noFill/>
          <a:ln/>
        </p:spPr>
        <p:txBody>
          <a:bodyPr wrap="square" lIns="0" tIns="0" rIns="0" bIns="0" rtlCol="0" anchor="t"/>
          <a:lstStyle/>
          <a:p>
            <a:pPr indent="0" marL="0">
              <a:buNone/>
            </a:pPr>
            <a:r>
              <a:rPr lang="en-US" sz="1400" dirty="0">
                <a:solidFill>
                  <a:srgbClr val="3A4654"/>
                </a:solidFill>
              </a:rPr>
              <a:t>recompute vs swap, with modelled costs (answers RQ6)</a:t>
            </a:r>
            <a:endParaRPr lang="en-US" sz="1400" dirty="0"/>
          </a:p>
        </p:txBody>
      </p:sp>
      <p:sp>
        <p:nvSpPr>
          <p:cNvPr id="14" name="step badge 2"/>
          <p:cNvSpPr/>
          <p:nvPr/>
        </p:nvSpPr>
        <p:spPr>
          <a:xfrm>
            <a:off x="5769864" y="1828800"/>
            <a:ext cx="566928" cy="56692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5" name="step arrow 2"/>
          <p:cNvSpPr/>
          <p:nvPr/>
        </p:nvSpPr>
        <p:spPr>
          <a:xfrm>
            <a:off x="6409944" y="2112264"/>
            <a:ext cx="1554480" cy="0"/>
          </a:xfrm>
          <a:prstGeom prst="line">
            <a:avLst/>
          </a:prstGeom>
          <a:noFill/>
          <a:ln w="19050">
            <a:solidFill>
              <a:srgbClr val="C3C9D1"/>
            </a:solidFill>
            <a:prstDash val="solid"/>
            <a:tailEnd type="triangle"/>
          </a:ln>
        </p:spPr>
      </p:sp>
      <p:sp>
        <p:nvSpPr>
          <p:cNvPr id="16" name="step card 2"/>
          <p:cNvSpPr/>
          <p:nvPr/>
        </p:nvSpPr>
        <p:spPr>
          <a:xfrm>
            <a:off x="5084064" y="2697480"/>
            <a:ext cx="2011680" cy="2103120"/>
          </a:xfrm>
          <a:prstGeom prst="roundRect">
            <a:avLst>
              <a:gd name="adj" fmla="val 3636"/>
            </a:avLst>
          </a:prstGeom>
          <a:solidFill>
            <a:srgbClr val="EEF1F5"/>
          </a:solidFill>
          <a:ln w="6350">
            <a:solidFill>
              <a:srgbClr val="EEF1F5"/>
            </a:solidFill>
            <a:prstDash val="solid"/>
          </a:ln>
        </p:spPr>
      </p:sp>
      <p:sp>
        <p:nvSpPr>
          <p:cNvPr id="17" name="step head 2"/>
          <p:cNvSpPr txBox="1"/>
          <p:nvPr/>
        </p:nvSpPr>
        <p:spPr>
          <a:xfrm>
            <a:off x="5248656" y="2834640"/>
            <a:ext cx="1691640" cy="640080"/>
          </a:xfrm>
          <a:prstGeom prst="rect">
            <a:avLst/>
          </a:prstGeom>
          <a:noFill/>
          <a:ln/>
        </p:spPr>
        <p:txBody>
          <a:bodyPr wrap="square" lIns="0" tIns="0" rIns="0" bIns="0" rtlCol="0" anchor="t"/>
          <a:lstStyle/>
          <a:p>
            <a:pPr indent="0" marL="0">
              <a:buNone/>
            </a:pPr>
            <a:r>
              <a:rPr lang="en-US" sz="1700" b="1" dirty="0">
                <a:solidFill>
                  <a:srgbClr val="1B2430"/>
                </a:solidFill>
              </a:rPr>
              <a:t>Batching + memory</a:t>
            </a:r>
            <a:endParaRPr lang="en-US" sz="1700" dirty="0"/>
          </a:p>
        </p:txBody>
      </p:sp>
      <p:sp>
        <p:nvSpPr>
          <p:cNvPr id="18" name="step body 2"/>
          <p:cNvSpPr txBox="1"/>
          <p:nvPr/>
        </p:nvSpPr>
        <p:spPr>
          <a:xfrm>
            <a:off x="5248656" y="3520440"/>
            <a:ext cx="1691640" cy="1417320"/>
          </a:xfrm>
          <a:prstGeom prst="rect">
            <a:avLst/>
          </a:prstGeom>
          <a:noFill/>
          <a:ln/>
        </p:spPr>
        <p:txBody>
          <a:bodyPr wrap="square" lIns="0" tIns="0" rIns="0" bIns="0" rtlCol="0" anchor="t"/>
          <a:lstStyle/>
          <a:p>
            <a:pPr indent="0" marL="0">
              <a:buNone/>
            </a:pPr>
            <a:r>
              <a:rPr lang="en-US" sz="1400" dirty="0">
                <a:solidFill>
                  <a:srgbClr val="3A4654"/>
                </a:solidFill>
              </a:rPr>
              <a:t>multiple slots and a KV-cache budget</a:t>
            </a:r>
            <a:endParaRPr lang="en-US" sz="1400" dirty="0"/>
          </a:p>
        </p:txBody>
      </p:sp>
      <p:sp>
        <p:nvSpPr>
          <p:cNvPr id="19" name="step badge 3"/>
          <p:cNvSpPr/>
          <p:nvPr/>
        </p:nvSpPr>
        <p:spPr>
          <a:xfrm>
            <a:off x="8037576" y="1828800"/>
            <a:ext cx="566928" cy="566928"/>
          </a:xfrm>
          <a:prstGeom prst="ellipse">
            <a:avLst/>
          </a:prstGeom>
          <a:solidFill>
            <a:srgbClr val="3A4654"/>
          </a:solidFill>
          <a:ln>
            <a:solidFill>
              <a:srgbClr val="3A4654"/>
            </a:solid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0" name="step arrow 3"/>
          <p:cNvSpPr/>
          <p:nvPr/>
        </p:nvSpPr>
        <p:spPr>
          <a:xfrm>
            <a:off x="8677656" y="2112264"/>
            <a:ext cx="1554480" cy="0"/>
          </a:xfrm>
          <a:prstGeom prst="line">
            <a:avLst/>
          </a:prstGeom>
          <a:noFill/>
          <a:ln w="19050">
            <a:solidFill>
              <a:srgbClr val="C3C9D1"/>
            </a:solidFill>
            <a:prstDash val="solid"/>
            <a:tailEnd type="triangle"/>
          </a:ln>
        </p:spPr>
      </p:sp>
      <p:sp>
        <p:nvSpPr>
          <p:cNvPr id="21" name="step card 3"/>
          <p:cNvSpPr/>
          <p:nvPr/>
        </p:nvSpPr>
        <p:spPr>
          <a:xfrm>
            <a:off x="7351776" y="2697480"/>
            <a:ext cx="2011680" cy="2103120"/>
          </a:xfrm>
          <a:prstGeom prst="roundRect">
            <a:avLst>
              <a:gd name="adj" fmla="val 3636"/>
            </a:avLst>
          </a:prstGeom>
          <a:solidFill>
            <a:srgbClr val="EEF1F5"/>
          </a:solidFill>
          <a:ln w="6350">
            <a:solidFill>
              <a:srgbClr val="EEF1F5"/>
            </a:solidFill>
            <a:prstDash val="solid"/>
          </a:ln>
        </p:spPr>
      </p:sp>
      <p:sp>
        <p:nvSpPr>
          <p:cNvPr id="22" name="step head 3"/>
          <p:cNvSpPr txBox="1"/>
          <p:nvPr/>
        </p:nvSpPr>
        <p:spPr>
          <a:xfrm>
            <a:off x="7516368" y="2834640"/>
            <a:ext cx="1691640" cy="640080"/>
          </a:xfrm>
          <a:prstGeom prst="rect">
            <a:avLst/>
          </a:prstGeom>
          <a:noFill/>
          <a:ln/>
        </p:spPr>
        <p:txBody>
          <a:bodyPr wrap="square" lIns="0" tIns="0" rIns="0" bIns="0" rtlCol="0" anchor="t"/>
          <a:lstStyle/>
          <a:p>
            <a:pPr indent="0" marL="0">
              <a:buNone/>
            </a:pPr>
            <a:r>
              <a:rPr lang="en-US" sz="1700" b="1" dirty="0">
                <a:solidFill>
                  <a:srgbClr val="1B2430"/>
                </a:solidFill>
              </a:rPr>
              <a:t>Learned predictor</a:t>
            </a:r>
            <a:endParaRPr lang="en-US" sz="1700" dirty="0"/>
          </a:p>
        </p:txBody>
      </p:sp>
      <p:sp>
        <p:nvSpPr>
          <p:cNvPr id="23" name="step body 3"/>
          <p:cNvSpPr txBox="1"/>
          <p:nvPr/>
        </p:nvSpPr>
        <p:spPr>
          <a:xfrm>
            <a:off x="7516368" y="3520440"/>
            <a:ext cx="1691640" cy="1417320"/>
          </a:xfrm>
          <a:prstGeom prst="rect">
            <a:avLst/>
          </a:prstGeom>
          <a:noFill/>
          <a:ln/>
        </p:spPr>
        <p:txBody>
          <a:bodyPr wrap="square" lIns="0" tIns="0" rIns="0" bIns="0" rtlCol="0" anchor="t"/>
          <a:lstStyle/>
          <a:p>
            <a:pPr indent="0" marL="0">
              <a:buNone/>
            </a:pPr>
            <a:r>
              <a:rPr lang="en-US" sz="1400" dirty="0">
                <a:solidFill>
                  <a:srgbClr val="3A4654"/>
                </a:solidFill>
              </a:rPr>
              <a:t>trained and tested on real prompts with logged lengths</a:t>
            </a:r>
            <a:endParaRPr lang="en-US" sz="1400" dirty="0"/>
          </a:p>
        </p:txBody>
      </p:sp>
      <p:sp>
        <p:nvSpPr>
          <p:cNvPr id="24" name="step badge 4"/>
          <p:cNvSpPr/>
          <p:nvPr/>
        </p:nvSpPr>
        <p:spPr>
          <a:xfrm>
            <a:off x="10305288" y="1828800"/>
            <a:ext cx="566928" cy="566928"/>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25" name="step card 4"/>
          <p:cNvSpPr/>
          <p:nvPr/>
        </p:nvSpPr>
        <p:spPr>
          <a:xfrm>
            <a:off x="9619488" y="2697480"/>
            <a:ext cx="2011680" cy="2103120"/>
          </a:xfrm>
          <a:prstGeom prst="roundRect">
            <a:avLst>
              <a:gd name="adj" fmla="val 3636"/>
            </a:avLst>
          </a:prstGeom>
          <a:solidFill>
            <a:srgbClr val="EEF1F5"/>
          </a:solidFill>
          <a:ln w="6350">
            <a:solidFill>
              <a:srgbClr val="EEF1F5"/>
            </a:solidFill>
            <a:prstDash val="solid"/>
          </a:ln>
        </p:spPr>
      </p:sp>
      <p:sp>
        <p:nvSpPr>
          <p:cNvPr id="26" name="step head 4"/>
          <p:cNvSpPr txBox="1"/>
          <p:nvPr/>
        </p:nvSpPr>
        <p:spPr>
          <a:xfrm>
            <a:off x="9784080" y="2834640"/>
            <a:ext cx="1691640" cy="640080"/>
          </a:xfrm>
          <a:prstGeom prst="rect">
            <a:avLst/>
          </a:prstGeom>
          <a:noFill/>
          <a:ln/>
        </p:spPr>
        <p:txBody>
          <a:bodyPr wrap="square" lIns="0" tIns="0" rIns="0" bIns="0" rtlCol="0" anchor="t"/>
          <a:lstStyle/>
          <a:p>
            <a:pPr indent="0" marL="0">
              <a:buNone/>
            </a:pPr>
            <a:r>
              <a:rPr lang="en-US" sz="1700" b="1" dirty="0">
                <a:solidFill>
                  <a:srgbClr val="1B2430"/>
                </a:solidFill>
              </a:rPr>
              <a:t>Real GPU validation</a:t>
            </a:r>
            <a:endParaRPr lang="en-US" sz="1700" dirty="0"/>
          </a:p>
        </p:txBody>
      </p:sp>
      <p:sp>
        <p:nvSpPr>
          <p:cNvPr id="27" name="step body 4"/>
          <p:cNvSpPr txBox="1"/>
          <p:nvPr/>
        </p:nvSpPr>
        <p:spPr>
          <a:xfrm>
            <a:off x="9784080" y="3520440"/>
            <a:ext cx="1691640" cy="1417320"/>
          </a:xfrm>
          <a:prstGeom prst="rect">
            <a:avLst/>
          </a:prstGeom>
          <a:noFill/>
          <a:ln/>
        </p:spPr>
        <p:txBody>
          <a:bodyPr wrap="square" lIns="0" tIns="0" rIns="0" bIns="0" rtlCol="0" anchor="t"/>
          <a:lstStyle/>
          <a:p>
            <a:pPr indent="0" marL="0">
              <a:buNone/>
            </a:pPr>
            <a:r>
              <a:rPr lang="en-US" sz="1400" dirty="0">
                <a:solidFill>
                  <a:srgbClr val="3A4654"/>
                </a:solidFill>
              </a:rPr>
              <a:t>patched vLLM scheduler or admission proxy; same traces</a:t>
            </a:r>
            <a:endParaRPr lang="en-US" sz="1400" dirty="0"/>
          </a:p>
        </p:txBody>
      </p:sp>
      <p:sp>
        <p:nvSpPr>
          <p:cNvPr id="28" name="future note"/>
          <p:cNvSpPr txBox="1"/>
          <p:nvPr/>
        </p:nvSpPr>
        <p:spPr>
          <a:xfrm>
            <a:off x="548640" y="5120640"/>
            <a:ext cx="11064240" cy="411480"/>
          </a:xfrm>
          <a:prstGeom prst="rect">
            <a:avLst/>
          </a:prstGeom>
          <a:noFill/>
          <a:ln/>
        </p:spPr>
        <p:txBody>
          <a:bodyPr wrap="square" lIns="0" tIns="0" rIns="0" bIns="0" rtlCol="0" anchor="t"/>
          <a:lstStyle/>
          <a:p>
            <a:pPr indent="0" marL="0">
              <a:buNone/>
            </a:pPr>
            <a:r>
              <a:rPr lang="en-US" sz="1500" i="1" dirty="0">
                <a:solidFill>
                  <a:srgbClr val="3A4654"/>
                </a:solidFill>
              </a:rPr>
              <a:t>Each step reuses the existing paired-trace runner, configs and analysis pipeline.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FFFFFF"/>
                </a:solidFill>
              </a:rPr>
              <a:t>Conclusion</a:t>
            </a:r>
            <a:endParaRPr lang="en-US" sz="3000" dirty="0"/>
          </a:p>
        </p:txBody>
      </p:sp>
      <p:sp>
        <p:nvSpPr>
          <p:cNvPr id="4" name="finding badge 0"/>
          <p:cNvSpPr/>
          <p:nvPr/>
        </p:nvSpPr>
        <p:spPr>
          <a:xfrm>
            <a:off x="548640" y="1508760"/>
            <a:ext cx="502920" cy="502920"/>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finding 0"/>
          <p:cNvSpPr txBox="1"/>
          <p:nvPr/>
        </p:nvSpPr>
        <p:spPr>
          <a:xfrm>
            <a:off x="1280160" y="1463040"/>
            <a:ext cx="10241280" cy="685800"/>
          </a:xfrm>
          <a:prstGeom prst="rect">
            <a:avLst/>
          </a:prstGeom>
          <a:noFill/>
          <a:ln/>
        </p:spPr>
        <p:txBody>
          <a:bodyPr wrap="square" lIns="0" tIns="0" rIns="0" bIns="0" rtlCol="0" anchor="ctr"/>
          <a:lstStyle/>
          <a:p>
            <a:pPr indent="0" marL="0">
              <a:buNone/>
            </a:pPr>
            <a:r>
              <a:rPr lang="en-US" sz="2000" dirty="0">
                <a:solidFill>
                  <a:srgbClr val="FFFFFF"/>
                </a:solidFill>
              </a:rPr>
              <a:t>Ordering by a simple length prediction cut mean JCT by 18–65% (load 0.5–0.95) and TTFT by 52.5% at load 0.8</a:t>
            </a:r>
            <a:endParaRPr lang="en-US" sz="2000" dirty="0"/>
          </a:p>
        </p:txBody>
      </p:sp>
      <p:sp>
        <p:nvSpPr>
          <p:cNvPr id="6" name="finding badge 1"/>
          <p:cNvSpPr/>
          <p:nvPr/>
        </p:nvSpPr>
        <p:spPr>
          <a:xfrm>
            <a:off x="548640" y="2606040"/>
            <a:ext cx="502920" cy="502920"/>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7" name="finding 1"/>
          <p:cNvSpPr txBox="1"/>
          <p:nvPr/>
        </p:nvSpPr>
        <p:spPr>
          <a:xfrm>
            <a:off x="1280160" y="2560320"/>
            <a:ext cx="10241280" cy="685800"/>
          </a:xfrm>
          <a:prstGeom prst="rect">
            <a:avLst/>
          </a:prstGeom>
          <a:noFill/>
          <a:ln/>
        </p:spPr>
        <p:txBody>
          <a:bodyPr wrap="square" lIns="0" tIns="0" rIns="0" bIns="0" rtlCol="0" anchor="ctr"/>
          <a:lstStyle/>
          <a:p>
            <a:pPr indent="0" marL="0">
              <a:buNone/>
            </a:pPr>
            <a:r>
              <a:rPr lang="en-US" sz="2000" dirty="0">
                <a:solidFill>
                  <a:srgbClr val="FFFFFF"/>
                </a:solidFill>
              </a:rPr>
              <a:t>Gains follow ranking quality: random predictions give none; a misleading feature can hurt</a:t>
            </a:r>
            <a:endParaRPr lang="en-US" sz="2000" dirty="0"/>
          </a:p>
        </p:txBody>
      </p:sp>
      <p:sp>
        <p:nvSpPr>
          <p:cNvPr id="8" name="finding badge 2"/>
          <p:cNvSpPr/>
          <p:nvPr/>
        </p:nvSpPr>
        <p:spPr>
          <a:xfrm>
            <a:off x="548640" y="3703320"/>
            <a:ext cx="502920" cy="502920"/>
          </a:xfrm>
          <a:prstGeom prst="ellipse">
            <a:avLst/>
          </a:prstGeom>
          <a:solidFill>
            <a:srgbClr val="EB6834"/>
          </a:solidFill>
          <a:ln>
            <a:solidFill>
              <a:srgbClr val="EB683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9" name="finding 2"/>
          <p:cNvSpPr txBox="1"/>
          <p:nvPr/>
        </p:nvSpPr>
        <p:spPr>
          <a:xfrm>
            <a:off x="1280160" y="3657600"/>
            <a:ext cx="10241280" cy="685800"/>
          </a:xfrm>
          <a:prstGeom prst="rect">
            <a:avLst/>
          </a:prstGeom>
          <a:noFill/>
          <a:ln/>
        </p:spPr>
        <p:txBody>
          <a:bodyPr wrap="square" lIns="0" tIns="0" rIns="0" bIns="0" rtlCol="0" anchor="ctr"/>
          <a:lstStyle/>
          <a:p>
            <a:pPr indent="0" marL="0">
              <a:buNone/>
            </a:pPr>
            <a:r>
              <a:rPr lang="en-US" sz="2000" dirty="0">
                <a:solidFill>
                  <a:srgbClr val="FFFFFF"/>
                </a:solidFill>
              </a:rPr>
              <a:t>Long requests pay: worst-case waits ~3–9× FCFS; aging trades the cost, it does not remove it</a:t>
            </a:r>
            <a:endParaRPr lang="en-US" sz="2000" dirty="0"/>
          </a:p>
        </p:txBody>
      </p:sp>
      <p:sp>
        <p:nvSpPr>
          <p:cNvPr id="10" name="questions"/>
          <p:cNvSpPr txBox="1"/>
          <p:nvPr/>
        </p:nvSpPr>
        <p:spPr>
          <a:xfrm>
            <a:off x="548640" y="4892040"/>
            <a:ext cx="5486400" cy="731520"/>
          </a:xfrm>
          <a:prstGeom prst="rect">
            <a:avLst/>
          </a:prstGeom>
          <a:noFill/>
          <a:ln/>
        </p:spPr>
        <p:txBody>
          <a:bodyPr wrap="square" lIns="0" tIns="0" rIns="0" bIns="0" rtlCol="0" anchor="t"/>
          <a:lstStyle/>
          <a:p>
            <a:pPr indent="0" marL="0">
              <a:buNone/>
            </a:pPr>
            <a:r>
              <a:rPr lang="en-US" sz="3200" b="1" dirty="0">
                <a:solidFill>
                  <a:srgbClr val="FFFFFF"/>
                </a:solidFill>
              </a:rPr>
              <a:t>Questions?</a:t>
            </a:r>
            <a:endParaRPr lang="en-US" sz="3200" dirty="0"/>
          </a:p>
        </p:txBody>
      </p:sp>
      <p:sp>
        <p:nvSpPr>
          <p:cNvPr id="11" name="closing caveat"/>
          <p:cNvSpPr txBox="1"/>
          <p:nvPr/>
        </p:nvSpPr>
        <p:spPr>
          <a:xfrm>
            <a:off x="548640" y="5806440"/>
            <a:ext cx="10515600" cy="457200"/>
          </a:xfrm>
          <a:prstGeom prst="rect">
            <a:avLst/>
          </a:prstGeom>
          <a:noFill/>
          <a:ln/>
        </p:spPr>
        <p:txBody>
          <a:bodyPr wrap="square" lIns="0" tIns="0" rIns="0" bIns="0" rtlCol="0" anchor="t"/>
          <a:lstStyle/>
          <a:p>
            <a:pPr indent="0" marL="0">
              <a:buNone/>
            </a:pPr>
            <a:r>
              <a:rPr lang="en-US" sz="1300" dirty="0">
                <a:solidFill>
                  <a:srgbClr val="C9D3DE"/>
                </a:solidFill>
              </a:rPr>
              <a:t>All results are simulated (single-slot M/G/1, assumed timing, synthetic workloads); none are GPU measurements. Code, data and logs: llm-os-scheduler/</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E"/>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LLM Scheduling Study">
  <a:themeElements>
    <a:clrScheme name="LLM Scheduling Study">
      <a:dk1>
        <a:srgbClr val="1B2430"/>
      </a:dk1>
      <a:lt1>
        <a:srgbClr val="FFFFFF"/>
      </a:lt1>
      <a:dk2>
        <a:srgbClr val="3A4654"/>
      </a:dk2>
      <a:lt2>
        <a:srgbClr val="EEF1F5"/>
      </a:lt2>
      <a:accent1>
        <a:srgbClr val="EB6834"/>
      </a:accent1>
      <a:accent2>
        <a:srgbClr val="2A78D6"/>
      </a:accent2>
      <a:accent3>
        <a:srgbClr val="1BAF7A"/>
      </a:accent3>
      <a:accent4>
        <a:srgbClr val="8A93A0"/>
      </a:accent4>
      <a:accent5>
        <a:srgbClr val="6250D6"/>
      </a:accent5>
      <a:accent6>
        <a:srgbClr val="E34948"/>
      </a:accent6>
      <a:hlink>
        <a:srgbClr val="2A78D6"/>
      </a:hlink>
      <a:folHlink>
        <a:srgbClr val="6250D6"/>
      </a:folHlink>
    </a:clrScheme>
    <a:fontScheme name="LLM Scheduling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OS-Inspired Scheduling for LLM Inference Requests</dc:title>
  <dc:subject>Final-year project review: FCFS vs predictive SJF (simulation study)</dc:subject>
  <dc:creator>PptxGenJS</dc:creator>
  <cp:lastModifiedBy>PptxGenJS</cp:lastModifiedBy>
  <cp:revision>1</cp:revision>
  <dcterms:created xsi:type="dcterms:W3CDTF">2026-10-27T19:16:16Z</dcterms:created>
  <dcterms:modified xsi:type="dcterms:W3CDTF">2026-10-27T19:16:16Z</dcterms:modified>
</cp:coreProperties>
</file>